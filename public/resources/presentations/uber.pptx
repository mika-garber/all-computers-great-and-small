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av" ContentType="audio/x-wav"/>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2"/>
  </p:notesMasterIdLst>
  <p:sldIdLst>
    <p:sldId id="258" r:id="rId3"/>
    <p:sldId id="256" r:id="rId4"/>
    <p:sldId id="257" r:id="rId5"/>
    <p:sldId id="259" r:id="rId6"/>
    <p:sldId id="260" r:id="rId7"/>
    <p:sldId id="261" r:id="rId8"/>
    <p:sldId id="262" r:id="rId9"/>
    <p:sldId id="263"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60" autoAdjust="0"/>
    <p:restoredTop sz="84675"/>
  </p:normalViewPr>
  <p:slideViewPr>
    <p:cSldViewPr snapToGrid="0">
      <p:cViewPr varScale="1">
        <p:scale>
          <a:sx n="122" d="100"/>
          <a:sy n="122" d="100"/>
        </p:scale>
        <p:origin x="728"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1/10/24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1139060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23723480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QuickStarter has created an outline to help you get started on your presentation. Some slides include information here in the notes to provide additional topics for you to research.</a:t>
            </a:r>
          </a:p>
          <a:p>
            <a:endParaRPr lang="en-US" dirty="0"/>
          </a:p>
          <a:p>
            <a:r>
              <a:rPr lang="en-US" dirty="0"/>
              <a:t>More key facts:</a:t>
            </a:r>
          </a:p>
          <a:p>
            <a:pPr marL="171450" indent="-171450">
              <a:buFont typeface="Arial" panose="020B0604020202020204" pitchFamily="34" charset="0"/>
              <a:buChar char="•"/>
            </a:pPr>
            <a:r>
              <a:rPr lang="en-US" b="1" dirty="0"/>
              <a:t>Subsidiary: </a:t>
            </a:r>
            <a:r>
              <a:rPr lang="en-US" dirty="0"/>
              <a:t>Uber Eats, Careem, Otto, Mighty AI, deCarta, Social Bicycles, Jump Bikes, orderTalk Inc. (acquired by Uber Technologies Inc.), Cornershop, Swipe Labs, Complex Polygon, Uber Advanced Technologies Group, UberRUSH, Geometric Intelligence Inc, Uber Freight, Rasier-CA llc, Rasier LLC, Uber India Technology, Xchange Leasing, LLC, Geometric Intelligence Inc., Complex Polygon, Inc., Uber International C.V.</a:t>
            </a:r>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11390608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QuickStarter has created an outline to help you get started on your presentation. Some slides include information here in the notes to provide additional topics for you to research.</a:t>
            </a:r>
          </a:p>
          <a:p>
            <a:endParaRPr lang="en-US" dirty="0"/>
          </a:p>
          <a:p>
            <a:r>
              <a:rPr lang="en-US" dirty="0"/>
              <a:t>More key facts:</a:t>
            </a:r>
          </a:p>
          <a:p>
            <a:pPr marL="171450" indent="-171450">
              <a:buFont typeface="Arial" panose="020B0604020202020204" pitchFamily="34" charset="0"/>
              <a:buChar char="•"/>
            </a:pPr>
            <a:r>
              <a:rPr lang="en-US" b="1" dirty="0"/>
              <a:t>Subsidiary: </a:t>
            </a:r>
            <a:r>
              <a:rPr lang="en-US" dirty="0"/>
              <a:t>Uber Eats, Careem, Otto, Mighty AI, deCarta, Social Bicycles, Jump Bikes, orderTalk Inc. (acquired by Uber Technologies Inc.), Cornershop, Swipe Labs, Complex Polygon, Uber Advanced Technologies Group, UberRUSH, Geometric Intelligence Inc, Uber Freight, Rasier-CA llc, Rasier LLC, Uber India Technology, Xchange Leasing, LLC, Geometric Intelligence Inc., Complex Polygon, Inc., Uber International C.V.</a:t>
            </a:r>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12366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QuickStarter has created an outline to help you get started on your presentation. Some slides include information here in the notes to provide additional topics for you to research.</a:t>
            </a:r>
          </a:p>
          <a:p>
            <a:endParaRPr lang="en-US" dirty="0"/>
          </a:p>
          <a:p>
            <a:r>
              <a:rPr lang="en-US" dirty="0"/>
              <a:t>More key facts:</a:t>
            </a:r>
          </a:p>
          <a:p>
            <a:pPr marL="171450" indent="-171450">
              <a:buFont typeface="Arial" panose="020B0604020202020204" pitchFamily="34" charset="0"/>
              <a:buChar char="•"/>
            </a:pPr>
            <a:r>
              <a:rPr lang="en-US" b="1" dirty="0"/>
              <a:t>Subsidiary: </a:t>
            </a:r>
            <a:r>
              <a:rPr lang="en-US" dirty="0"/>
              <a:t>Uber Eats, Careem, Otto, Mighty AI, deCarta, Social Bicycles, Jump Bikes, orderTalk Inc. (acquired by Uber Technologies Inc.), Cornershop, Swipe Labs, Complex Polygon, Uber Advanced Technologies Group, UberRUSH, Geometric Intelligence Inc, Uber Freight, Rasier-CA llc, Rasier LLC, Uber India Technology, Xchange Leasing, LLC, Geometric Intelligence Inc., Complex Polygon, Inc., Uber International C.V.</a:t>
            </a:r>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14477501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QuickStarter has created an outline to help you get started on your presentation. Some slides include information here in the notes to provide additional topics for you to research.</a:t>
            </a:r>
          </a:p>
          <a:p>
            <a:endParaRPr lang="en-US" dirty="0"/>
          </a:p>
          <a:p>
            <a:r>
              <a:rPr lang="en-US" dirty="0"/>
              <a:t>More key facts:</a:t>
            </a:r>
          </a:p>
          <a:p>
            <a:pPr marL="171450" indent="-171450">
              <a:buFont typeface="Arial" panose="020B0604020202020204" pitchFamily="34" charset="0"/>
              <a:buChar char="•"/>
            </a:pPr>
            <a:r>
              <a:rPr lang="en-US" b="1" dirty="0"/>
              <a:t>Subsidiary: </a:t>
            </a:r>
            <a:r>
              <a:rPr lang="en-US" dirty="0"/>
              <a:t>Uber Eats, Careem, Otto, Mighty AI, deCarta, Social Bicycles, Jump Bikes, orderTalk Inc. (acquired by Uber Technologies Inc.), Cornershop, Swipe Labs, Complex Polygon, Uber Advanced Technologies Group, UberRUSH, Geometric Intelligence Inc, Uber Freight, Rasier-CA llc, Rasier LLC, Uber India Technology, Xchange Leasing, LLC, Geometric Intelligence Inc., Complex Polygon, Inc., Uber International C.V.</a:t>
            </a:r>
          </a:p>
        </p:txBody>
      </p:sp>
      <p:sp>
        <p:nvSpPr>
          <p:cNvPr id="4" name="Slide Number Placeholder 3"/>
          <p:cNvSpPr>
            <a:spLocks noGrp="1"/>
          </p:cNvSpPr>
          <p:nvPr>
            <p:ph type="sldNum" sz="quarter" idx="10"/>
          </p:nvPr>
        </p:nvSpPr>
        <p:spPr/>
        <p:txBody>
          <a:bodyPr/>
          <a:lstStyle/>
          <a:p>
            <a:fld id="{E0746DE6-3336-457D-A091-FA20AC1C536E}" type="slidenum">
              <a:rPr lang="en-US" smtClean="0"/>
              <a:t>7</a:t>
            </a:fld>
            <a:endParaRPr lang="en-US"/>
          </a:p>
        </p:txBody>
      </p:sp>
    </p:spTree>
    <p:extLst>
      <p:ext uri="{BB962C8B-B14F-4D97-AF65-F5344CB8AC3E}">
        <p14:creationId xmlns:p14="http://schemas.microsoft.com/office/powerpoint/2010/main" val="25587322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QuickStarter has created an outline to help you get started on your presentation. Some slides include information here in the notes to provide additional topics for you to research.</a:t>
            </a:r>
          </a:p>
          <a:p>
            <a:endParaRPr lang="en-US" dirty="0"/>
          </a:p>
          <a:p>
            <a:r>
              <a:rPr lang="en-US" dirty="0"/>
              <a:t>More key facts:</a:t>
            </a:r>
          </a:p>
          <a:p>
            <a:pPr marL="171450" indent="-171450">
              <a:buFont typeface="Arial" panose="020B0604020202020204" pitchFamily="34" charset="0"/>
              <a:buChar char="•"/>
            </a:pPr>
            <a:r>
              <a:rPr lang="en-US" b="1" dirty="0"/>
              <a:t>Subsidiary: </a:t>
            </a:r>
            <a:r>
              <a:rPr lang="en-US" dirty="0"/>
              <a:t>Uber Eats, Careem, Otto, Mighty AI, deCarta, Social Bicycles, Jump Bikes, orderTalk Inc. (acquired by Uber Technologies Inc.), Cornershop, Swipe Labs, Complex Polygon, Uber Advanced Technologies Group, UberRUSH, Geometric Intelligence Inc, Uber Freight, Rasier-CA llc, Rasier LLC, Uber India Technology, Xchange Leasing, LLC, Geometric Intelligence Inc., Complex Polygon, Inc., Uber International C.V.</a:t>
            </a:r>
          </a:p>
        </p:txBody>
      </p:sp>
      <p:sp>
        <p:nvSpPr>
          <p:cNvPr id="4" name="Slide Number Placeholder 3"/>
          <p:cNvSpPr>
            <a:spLocks noGrp="1"/>
          </p:cNvSpPr>
          <p:nvPr>
            <p:ph type="sldNum" sz="quarter" idx="10"/>
          </p:nvPr>
        </p:nvSpPr>
        <p:spPr/>
        <p:txBody>
          <a:bodyPr/>
          <a:lstStyle/>
          <a:p>
            <a:fld id="{E0746DE6-3336-457D-A091-FA20AC1C536E}" type="slidenum">
              <a:rPr lang="en-US" smtClean="0"/>
              <a:t>8</a:t>
            </a:fld>
            <a:endParaRPr lang="en-US"/>
          </a:p>
        </p:txBody>
      </p:sp>
    </p:spTree>
    <p:extLst>
      <p:ext uri="{BB962C8B-B14F-4D97-AF65-F5344CB8AC3E}">
        <p14:creationId xmlns:p14="http://schemas.microsoft.com/office/powerpoint/2010/main" val="2438147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1/10/24</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1/10/24</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1/10/24</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1/10/24</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1/10/24</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1/10/24</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1/10/24</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1/10/24</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1/10/24</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1/10/24</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1/10/24</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4260" y="462455"/>
            <a:ext cx="10515600" cy="822263"/>
          </a:xfrm>
        </p:spPr>
        <p:txBody>
          <a:bodyPr>
            <a:normAutofit/>
          </a:bodyPr>
          <a:lstStyle>
            <a:lvl1pPr>
              <a:defRPr sz="3600">
                <a:solidFill>
                  <a:srgbClr val="D24726"/>
                </a:solidFill>
                <a:latin typeface="Segoe UI Light" panose="020B0502040204020203" pitchFamily="34" charset="0"/>
                <a:cs typeface="Segoe UI Light" panose="020B0502040204020203" pitchFamily="34" charset="0"/>
              </a:defRPr>
            </a:lvl1pPr>
          </a:lstStyle>
          <a:p>
            <a:r>
              <a:rPr lang="en-US" dirty="0"/>
              <a:t>Click to edit Master title style</a:t>
            </a:r>
          </a:p>
        </p:txBody>
      </p:sp>
      <p:sp>
        <p:nvSpPr>
          <p:cNvPr id="3" name="Content Placeholder 2"/>
          <p:cNvSpPr>
            <a:spLocks noGrp="1"/>
          </p:cNvSpPr>
          <p:nvPr>
            <p:ph idx="1"/>
          </p:nvPr>
        </p:nvSpPr>
        <p:spPr>
          <a:xfrm>
            <a:off x="838200" y="1625936"/>
            <a:ext cx="10515600" cy="4351338"/>
          </a:xfrm>
        </p:spPr>
        <p:txBody>
          <a:bodyPr/>
          <a:lstStyle>
            <a:lvl1pPr>
              <a:defRPr sz="1400" baseline="0">
                <a:solidFill>
                  <a:srgbClr val="595959"/>
                </a:solidFill>
                <a:latin typeface="Segoe UI Semilight" panose="020B0402040204020203" pitchFamily="34" charset="0"/>
                <a:cs typeface="Segoe UI Semilight" panose="020B0402040204020203" pitchFamily="34" charset="0"/>
              </a:defRPr>
            </a:lvl1pPr>
            <a:lvl2pPr>
              <a:defRPr sz="1200" baseline="0">
                <a:solidFill>
                  <a:srgbClr val="595959"/>
                </a:solidFill>
                <a:latin typeface="Segoe UI Semilight" panose="020B0402040204020203" pitchFamily="34" charset="0"/>
                <a:cs typeface="Segoe UI Semilight" panose="020B0402040204020203" pitchFamily="34" charset="0"/>
              </a:defRPr>
            </a:lvl2pPr>
            <a:lvl3pPr>
              <a:defRPr sz="1200" baseline="0">
                <a:solidFill>
                  <a:srgbClr val="595959"/>
                </a:solidFill>
                <a:latin typeface="Segoe UI Semilight" panose="020B0402040204020203" pitchFamily="34" charset="0"/>
                <a:cs typeface="Segoe UI Semilight" panose="020B0402040204020203" pitchFamily="34" charset="0"/>
              </a:defRPr>
            </a:lvl3pPr>
            <a:lvl4pPr>
              <a:defRPr sz="1200" baseline="0">
                <a:solidFill>
                  <a:srgbClr val="595959"/>
                </a:solidFill>
                <a:latin typeface="Segoe UI Semilight" panose="020B0402040204020203" pitchFamily="34" charset="0"/>
                <a:cs typeface="Segoe UI Semilight" panose="020B0402040204020203" pitchFamily="34" charset="0"/>
              </a:defRPr>
            </a:lvl4pPr>
            <a:lvl5pPr>
              <a:defRPr sz="1200" baseline="0">
                <a:solidFill>
                  <a:srgbClr val="595959"/>
                </a:solidFill>
                <a:latin typeface="Segoe UI Semilight" panose="020B0402040204020203" pitchFamily="34" charset="0"/>
                <a:cs typeface="Segoe UI Semilight" panose="020B04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3652CD92-9D15-43B4-8516-073FCDAC90D4}" type="datetimeFigureOut">
              <a:rPr lang="en-US" smtClean="0"/>
              <a:t>1/10/24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5E1560-7126-406C-A531-3A398E8D0EEA}" type="slidenum">
              <a:rPr lang="en-US" smtClean="0"/>
              <a:t>‹#›</a:t>
            </a:fld>
            <a:endParaRPr lang="en-US"/>
          </a:p>
        </p:txBody>
      </p:sp>
      <p:cxnSp>
        <p:nvCxnSpPr>
          <p:cNvPr id="7" name="Straight Connector 6"/>
          <p:cNvCxnSpPr/>
          <p:nvPr userDrawn="1"/>
        </p:nvCxnSpPr>
        <p:spPr>
          <a:xfrm>
            <a:off x="952500" y="1284718"/>
            <a:ext cx="10363200"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55252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1/10/24</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5902013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52CD92-9D15-43B4-8516-073FCDAC90D4}" type="datetimeFigureOut">
              <a:rPr lang="en-US" smtClean="0"/>
              <a:t>1/10/24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5E1560-7126-406C-A531-3A398E8D0EEA}" type="slidenum">
              <a:rPr lang="en-US" smtClean="0"/>
              <a:t>‹#›</a:t>
            </a:fld>
            <a:endParaRPr lang="en-US"/>
          </a:p>
        </p:txBody>
      </p:sp>
    </p:spTree>
    <p:extLst>
      <p:ext uri="{BB962C8B-B14F-4D97-AF65-F5344CB8AC3E}">
        <p14:creationId xmlns:p14="http://schemas.microsoft.com/office/powerpoint/2010/main" val="3184122265"/>
      </p:ext>
    </p:extLst>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7" Type="http://schemas.microsoft.com/office/2007/relationships/hdphoto" Target="../media/hdphoto2.wdp"/><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2.png"/><Relationship Id="rId5" Type="http://schemas.microsoft.com/office/2007/relationships/hdphoto" Target="../media/hdphoto1.wdp"/><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audio" Target="../media/audio1.wav"/><Relationship Id="rId7" Type="http://schemas.microsoft.com/office/2007/relationships/hdphoto" Target="../media/hdphoto3.wdp"/><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1.png"/><Relationship Id="rId5" Type="http://schemas.openxmlformats.org/officeDocument/2006/relationships/hyperlink" Target="https://creativecommons.org/licenses/by-sa/3.0/" TargetMode="External"/><Relationship Id="rId4" Type="http://schemas.openxmlformats.org/officeDocument/2006/relationships/hyperlink" Target="http://en.wikipedia.org/wiki/Uber" TargetMode="External"/><Relationship Id="rId9" Type="http://schemas.microsoft.com/office/2007/relationships/hdphoto" Target="../media/hdphoto4.wdp"/></Relationships>
</file>

<file path=ppt/slides/_rels/slide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hyperlink" Target="https://youtu.be/d_OE-NGlzhc" TargetMode="External"/><Relationship Id="rId7" Type="http://schemas.microsoft.com/office/2007/relationships/hdphoto" Target="../media/hdphoto6.wdp"/><Relationship Id="rId2" Type="http://schemas.openxmlformats.org/officeDocument/2006/relationships/audio" Target="../media/audio1.wav"/><Relationship Id="rId1" Type="http://schemas.openxmlformats.org/officeDocument/2006/relationships/slideLayout" Target="../slideLayouts/slideLayout12.xml"/><Relationship Id="rId6" Type="http://schemas.openxmlformats.org/officeDocument/2006/relationships/image" Target="../media/image2.png"/><Relationship Id="rId5" Type="http://schemas.microsoft.com/office/2007/relationships/hdphoto" Target="../media/hdphoto5.wdp"/><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 Id="rId6" Type="http://schemas.microsoft.com/office/2007/relationships/hdphoto" Target="../media/hdphoto7.wdp"/><Relationship Id="rId5" Type="http://schemas.openxmlformats.org/officeDocument/2006/relationships/image" Target="../media/image2.png"/><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16.jpeg"/><Relationship Id="rId4" Type="http://schemas.openxmlformats.org/officeDocument/2006/relationships/image" Target="../media/image15.jpe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 Id="rId6" Type="http://schemas.microsoft.com/office/2007/relationships/hdphoto" Target="../media/hdphoto9.wdp"/><Relationship Id="rId5" Type="http://schemas.openxmlformats.org/officeDocument/2006/relationships/image" Target="../media/image2.png"/><Relationship Id="rId4" Type="http://schemas.microsoft.com/office/2007/relationships/hdphoto" Target="../media/hdphoto8.wdp"/></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ctrTitle"/>
          </p:nvPr>
        </p:nvSpPr>
        <p:spPr>
          <a:xfrm>
            <a:off x="1524003" y="1999615"/>
            <a:ext cx="9144000" cy="2764028"/>
          </a:xfrm>
        </p:spPr>
        <p:txBody>
          <a:bodyPr anchor="ctr">
            <a:normAutofit/>
          </a:bodyPr>
          <a:lstStyle/>
          <a:p>
            <a:r>
              <a:rPr lang="en-US" sz="7200" b="1" dirty="0"/>
              <a:t>Demystifying</a:t>
            </a:r>
            <a:br>
              <a:rPr lang="en-US" sz="7200" b="1" dirty="0"/>
            </a:br>
            <a:r>
              <a:rPr lang="en-US" sz="7200" b="1" dirty="0"/>
              <a:t>Uber</a:t>
            </a:r>
          </a:p>
        </p:txBody>
      </p:sp>
      <p:sp>
        <p:nvSpPr>
          <p:cNvPr id="3" name="Content Placeholder 2"/>
          <p:cNvSpPr>
            <a:spLocks noGrp="1"/>
          </p:cNvSpPr>
          <p:nvPr>
            <p:ph type="subTitle" idx="1"/>
          </p:nvPr>
        </p:nvSpPr>
        <p:spPr>
          <a:xfrm>
            <a:off x="1825510" y="5849982"/>
            <a:ext cx="8258176" cy="631825"/>
          </a:xfrm>
        </p:spPr>
        <p:txBody>
          <a:bodyPr anchor="ctr">
            <a:normAutofit/>
          </a:bodyPr>
          <a:lstStyle/>
          <a:p>
            <a:r>
              <a:rPr lang="en-US" sz="2800" b="1" dirty="0"/>
              <a:t>Or, how to book a ride to just about anywhere!</a:t>
            </a:r>
            <a:endParaRPr sz="2800" b="1" dirty="0"/>
          </a:p>
        </p:txBody>
      </p:sp>
      <p:sp>
        <p:nvSpPr>
          <p:cNvPr id="15" name="Rectangle 14">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5" name="Group 4">
            <a:extLst>
              <a:ext uri="{FF2B5EF4-FFF2-40B4-BE49-F238E27FC236}">
                <a16:creationId xmlns:a16="http://schemas.microsoft.com/office/drawing/2014/main" id="{A6043F4B-11D7-893E-3B2C-2548EDD346CC}"/>
              </a:ext>
            </a:extLst>
          </p:cNvPr>
          <p:cNvGrpSpPr/>
          <p:nvPr/>
        </p:nvGrpSpPr>
        <p:grpSpPr>
          <a:xfrm>
            <a:off x="385306" y="168598"/>
            <a:ext cx="2880408" cy="1082967"/>
            <a:chOff x="626301" y="4860099"/>
            <a:chExt cx="2880408" cy="1082967"/>
          </a:xfrm>
        </p:grpSpPr>
        <p:pic>
          <p:nvPicPr>
            <p:cNvPr id="6" name="Picture 2" descr="L.A. by the Slice: What Are We Thinking While Using Uber? - LAmag -  Culture, Food, Fashion, News &amp; Los Angeles">
              <a:extLst>
                <a:ext uri="{FF2B5EF4-FFF2-40B4-BE49-F238E27FC236}">
                  <a16:creationId xmlns:a16="http://schemas.microsoft.com/office/drawing/2014/main" id="{B049E992-89A8-4B15-9BBE-EAA3614B02B4}"/>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backgroundRemoval t="9956" b="89934" l="4667" r="95583">
                          <a14:foregroundMark x1="17000" y1="35619" x2="11583" y2="36394"/>
                          <a14:foregroundMark x1="11583" y1="36394" x2="7997" y2="40952"/>
                          <a14:foregroundMark x1="6317" y1="51657" x2="5750" y2="55973"/>
                          <a14:foregroundMark x1="5750" y1="55973" x2="8667" y2="61726"/>
                          <a14:foregroundMark x1="8667" y1="61726" x2="13333" y2="58407"/>
                          <a14:foregroundMark x1="13333" y1="58407" x2="13417" y2="38717"/>
                          <a14:foregroundMark x1="4667" y1="53872" x2="4750" y2="66814"/>
                          <a14:foregroundMark x1="88583" y1="47677" x2="92917" y2="52544"/>
                          <a14:foregroundMark x1="92917" y1="52544" x2="94667" y2="59513"/>
                          <a14:foregroundMark x1="94667" y1="59513" x2="91083" y2="64712"/>
                          <a14:foregroundMark x1="91083" y1="64712" x2="88583" y2="48230"/>
                          <a14:foregroundMark x1="94083" y1="55752" x2="95583" y2="62721"/>
                          <a14:foregroundMark x1="95583" y1="62721" x2="94500" y2="58407"/>
                          <a14:backgroundMark x1="6167" y1="41150" x2="6583" y2="48009"/>
                          <a14:backgroundMark x1="6583" y1="48009" x2="5333" y2="50996"/>
                          <a14:backgroundMark x1="8250" y1="41593" x2="6833" y2="40929"/>
                          <a14:backgroundMark x1="7500" y1="41261" x2="7500" y2="41261"/>
                          <a14:backgroundMark x1="7500" y1="40929" x2="7500" y2="40929"/>
                          <a14:backgroundMark x1="7833" y1="41150" x2="6417" y2="41593"/>
                          <a14:backgroundMark x1="5917" y1="52102" x2="5750" y2="50000"/>
                        </a14:backgroundRemoval>
                      </a14:imgEffect>
                    </a14:imgLayer>
                  </a14:imgProps>
                </a:ext>
                <a:ext uri="{28A0092B-C50C-407E-A947-70E740481C1C}">
                  <a14:useLocalDpi xmlns:a14="http://schemas.microsoft.com/office/drawing/2010/main" val="0"/>
                </a:ext>
              </a:extLst>
            </a:blip>
            <a:srcRect l="3414" t="27367" r="2479" b="25662"/>
            <a:stretch/>
          </p:blipFill>
          <p:spPr bwMode="auto">
            <a:xfrm>
              <a:off x="626301" y="4860099"/>
              <a:ext cx="2880408" cy="1082967"/>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Uber - Request a ride on the App Store">
              <a:extLst>
                <a:ext uri="{FF2B5EF4-FFF2-40B4-BE49-F238E27FC236}">
                  <a16:creationId xmlns:a16="http://schemas.microsoft.com/office/drawing/2014/main" id="{3F8F5F54-9D30-0D5B-97A3-8C9875D95DDC}"/>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backgroundRemoval t="10000" b="90000" l="10000" r="90000">
                          <a14:foregroundMark x1="60645" y1="39877" x2="35806" y2="39877"/>
                          <a14:foregroundMark x1="35806" y1="39877" x2="40645" y2="63190"/>
                          <a14:foregroundMark x1="40645" y1="63190" x2="52581" y2="68098"/>
                          <a14:foregroundMark x1="52581" y1="68098" x2="63548" y2="56442"/>
                          <a14:foregroundMark x1="63548" y1="56442" x2="60645" y2="43558"/>
                          <a14:foregroundMark x1="41613" y1="43558" x2="41613" y2="49693"/>
                          <a14:foregroundMark x1="44194" y1="43558" x2="44194" y2="54601"/>
                          <a14:foregroundMark x1="50000" y1="51534" x2="50000" y2="57669"/>
                          <a14:foregroundMark x1="38710" y1="60123" x2="36452" y2="60736"/>
                          <a14:foregroundMark x1="34839" y1="47239" x2="35161" y2="53374"/>
                          <a14:foregroundMark x1="45806" y1="47239" x2="51613" y2="51534"/>
                          <a14:foregroundMark x1="55484" y1="53374" x2="57742" y2="53988"/>
                          <a14:foregroundMark x1="57742" y1="50920" x2="56452" y2="47239"/>
                          <a14:foregroundMark x1="54839" y1="48466" x2="51935" y2="52147"/>
                          <a14:foregroundMark x1="53871" y1="55828" x2="57419" y2="58896"/>
                        </a14:backgroundRemoval>
                      </a14:imgEffect>
                    </a14:imgLayer>
                  </a14:imgProps>
                </a:ext>
                <a:ext uri="{28A0092B-C50C-407E-A947-70E740481C1C}">
                  <a14:useLocalDpi xmlns:a14="http://schemas.microsoft.com/office/drawing/2010/main" val="0"/>
                </a:ext>
              </a:extLst>
            </a:blip>
            <a:srcRect l="31652" t="15969" r="31123" b="15050"/>
            <a:stretch/>
          </p:blipFill>
          <p:spPr bwMode="auto">
            <a:xfrm>
              <a:off x="1858104" y="5327284"/>
              <a:ext cx="416801" cy="406114"/>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231875204"/>
      </p:ext>
    </p:extLst>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fill="hold" nodeType="afterEffect" p14:presetBounceEnd="50000">
                                      <p:stCondLst>
                                        <p:cond delay="0"/>
                                      </p:stCondLst>
                                      <p:childTnLst>
                                        <p:animMotion origin="layout" path="M -0.14688 -0.00069 L 0.80755 -0.00069 " pathEditMode="relative" rAng="0" ptsTypes="AA" p14:bounceEnd="50000">
                                          <p:cBhvr>
                                            <p:cTn id="6" dur="5000" fill="hold"/>
                                            <p:tgtEl>
                                              <p:spTgt spid="5"/>
                                            </p:tgtEl>
                                            <p:attrNameLst>
                                              <p:attrName>ppt_x</p:attrName>
                                              <p:attrName>ppt_y</p:attrName>
                                            </p:attrNameLst>
                                          </p:cBhvr>
                                          <p:rCtr x="47721" y="0"/>
                                        </p:animMotion>
                                      </p:childTnLst>
                                      <p:subTnLst>
                                        <p:audio>
                                          <p:cMediaNode>
                                            <p:cTn display="0" masterRel="sameClick">
                                              <p:stCondLst>
                                                <p:cond evt="begin" delay="0">
                                                  <p:tn val="5"/>
                                                </p:cond>
                                              </p:stCondLst>
                                              <p:endCondLst>
                                                <p:cond evt="onStopAudio" delay="0">
                                                  <p:tgtEl>
                                                    <p:sldTgt/>
                                                  </p:tgtEl>
                                                </p:cond>
                                              </p:endCondLst>
                                            </p:cTn>
                                            <p:tgtEl>
                                              <p:sndTgt r:embed="rId3" name="pu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fill="hold" nodeType="afterEffect">
                                      <p:stCondLst>
                                        <p:cond delay="0"/>
                                      </p:stCondLst>
                                      <p:childTnLst>
                                        <p:animMotion origin="layout" path="M -0.14688 -0.00069 L 0.80755 -0.00069 " pathEditMode="relative" rAng="0" ptsTypes="AA">
                                          <p:cBhvr>
                                            <p:cTn id="6" dur="5000" fill="hold"/>
                                            <p:tgtEl>
                                              <p:spTgt spid="5"/>
                                            </p:tgtEl>
                                            <p:attrNameLst>
                                              <p:attrName>ppt_x</p:attrName>
                                              <p:attrName>ppt_y</p:attrName>
                                            </p:attrNameLst>
                                          </p:cBhvr>
                                          <p:rCtr x="47721" y="0"/>
                                        </p:animMotion>
                                      </p:childTnLst>
                                      <p:subTnLst>
                                        <p:audio>
                                          <p:cMediaNode>
                                            <p:cTn display="0" masterRel="sameClick">
                                              <p:stCondLst>
                                                <p:cond evt="begin" delay="0">
                                                  <p:tn val="5"/>
                                                </p:cond>
                                              </p:stCondLst>
                                              <p:endCondLst>
                                                <p:cond evt="onStopAudio" delay="0">
                                                  <p:tgtEl>
                                                    <p:sldTgt/>
                                                  </p:tgtEl>
                                                </p:cond>
                                              </p:endCondLst>
                                            </p:cTn>
                                            <p:tgtEl>
                                              <p:sndTgt r:embed="rId3" name="pu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B76E6-8E55-4532-B4C9-362459A30A05}"/>
              </a:ext>
            </a:extLst>
          </p:cNvPr>
          <p:cNvSpPr>
            <a:spLocks noGrp="1"/>
          </p:cNvSpPr>
          <p:nvPr>
            <p:ph type="title"/>
          </p:nvPr>
        </p:nvSpPr>
        <p:spPr/>
        <p:txBody>
          <a:bodyPr/>
          <a:lstStyle/>
          <a:p>
            <a:r>
              <a:rPr lang="en-US" b="1" dirty="0">
                <a:latin typeface="Helvetica Neue Light" panose="020B0702040204020203" pitchFamily="34" charset="0"/>
                <a:ea typeface="Helvetica Neue Light" panose="020B0702040204020203" pitchFamily="34" charset="0"/>
                <a:cs typeface="Helvetica Neue" panose="020B0502040204020203" pitchFamily="34" charset="0"/>
              </a:rPr>
              <a:t>Uber</a:t>
            </a:r>
          </a:p>
        </p:txBody>
      </p:sp>
      <p:sp>
        <p:nvSpPr>
          <p:cNvPr id="21" name="Content Placeholder 2"/>
          <p:cNvSpPr txBox="1">
            <a:spLocks/>
          </p:cNvSpPr>
          <p:nvPr/>
        </p:nvSpPr>
        <p:spPr>
          <a:xfrm>
            <a:off x="834260" y="1300126"/>
            <a:ext cx="5028036" cy="4000000"/>
          </a:xfrm>
          <a:prstGeom prst="rect">
            <a:avLst/>
          </a:prstGeom>
          <a:ln w="57150">
            <a:noFill/>
          </a:ln>
        </p:spPr>
        <p:txBody>
          <a:bodyPr vert="horz" lIns="91440" tIns="45720" rIns="91440" bIns="45720" numCol="1" rtlCol="0" anchor="t">
            <a:normAutofit/>
          </a:bodyPr>
          <a:lstStyle/>
          <a:p>
            <a:pPr marL="0" indent="0">
              <a:lnSpc>
                <a:spcPct val="150000"/>
              </a:lnSpc>
              <a:spcBef>
                <a:spcPts val="0"/>
              </a:spcBef>
              <a:buFont typeface="Arial" panose="020B0604020202020204" pitchFamily="34" charset="0"/>
              <a:buNone/>
            </a:pPr>
            <a:r>
              <a:rPr lang="en-US" dirty="0">
                <a:solidFill>
                  <a:schemeClr val="tx1">
                    <a:lumMod val="65000"/>
                    <a:lumOff val="35000"/>
                  </a:schemeClr>
                </a:solidFill>
                <a:latin typeface="Helvetica Neue Light" panose="020B0402040204020203" pitchFamily="34" charset="0"/>
                <a:ea typeface="Helvetica Neue" panose="020B0502040204020203" pitchFamily="34" charset="0"/>
                <a:cs typeface="Helvetica Neue Light" panose="020B0402040204020203" pitchFamily="34" charset="0"/>
              </a:rPr>
              <a:t>Uber Technologies, Inc., commonly known as Uber, is an American multinational ride-hailing company offering services that include peer-to-peer ridesharing, ride service hailing, food delivery, and a micromobility system with electric bikes and scooters. The company is based in San Francisco and has operations in over 785 metropolitan areas worldwide. Its platforms can be accessed via its websites and mobile apps.</a:t>
            </a:r>
          </a:p>
        </p:txBody>
      </p:sp>
      <p:sp>
        <p:nvSpPr>
          <p:cNvPr id="22" name="Content Placeholder 3"/>
          <p:cNvSpPr/>
          <p:nvPr/>
        </p:nvSpPr>
        <p:spPr>
          <a:xfrm>
            <a:off x="6112471" y="1300126"/>
            <a:ext cx="5237389" cy="3778278"/>
          </a:xfrm>
          <a:prstGeom prst="rect">
            <a:avLst/>
          </a:prstGeom>
        </p:spPr>
        <p:txBody>
          <a:bodyPr wrap="square">
            <a:spAutoFit/>
          </a:bodyPr>
          <a:lstStyle/>
          <a:p>
            <a:pPr>
              <a:lnSpc>
                <a:spcPct val="150000"/>
              </a:lnSpc>
            </a:pPr>
            <a:r>
              <a:rPr lang="en-US" b="1" dirty="0">
                <a:solidFill>
                  <a:srgbClr val="D24726"/>
                </a:solidFill>
                <a:latin typeface="Helvetica Neue" panose="020B0702040204020203" pitchFamily="34" charset="0"/>
                <a:ea typeface="Helvetica Neue" panose="020B0702040204020203" pitchFamily="34" charset="0"/>
              </a:rPr>
              <a:t>Founded: </a:t>
            </a:r>
            <a:r>
              <a:rPr lang="en-US" dirty="0">
                <a:solidFill>
                  <a:schemeClr val="tx1">
                    <a:lumMod val="65000"/>
                    <a:lumOff val="35000"/>
                  </a:schemeClr>
                </a:solidFill>
                <a:latin typeface="Helvetica Neue Light" panose="020B0402040204020203" pitchFamily="34" charset="0"/>
                <a:cs typeface="Helvetica Neue Light" panose="020B0402040204020203" pitchFamily="34" charset="0"/>
              </a:rPr>
              <a:t>Mar 2009</a:t>
            </a:r>
          </a:p>
          <a:p>
            <a:pPr>
              <a:lnSpc>
                <a:spcPct val="150000"/>
              </a:lnSpc>
            </a:pPr>
            <a:r>
              <a:rPr lang="en-US" b="1" dirty="0">
                <a:solidFill>
                  <a:srgbClr val="D24726"/>
                </a:solidFill>
                <a:latin typeface="Helvetica Neue" panose="020B0702040204020203" pitchFamily="34" charset="0"/>
                <a:ea typeface="Helvetica Neue" panose="020B0702040204020203" pitchFamily="34" charset="0"/>
              </a:rPr>
              <a:t>Revenue: </a:t>
            </a:r>
            <a:r>
              <a:rPr lang="en-US" dirty="0">
                <a:solidFill>
                  <a:schemeClr val="tx1">
                    <a:lumMod val="65000"/>
                    <a:lumOff val="35000"/>
                  </a:schemeClr>
                </a:solidFill>
                <a:latin typeface="Helvetica Neue Light" panose="020B0402040204020203" pitchFamily="34" charset="0"/>
                <a:cs typeface="Helvetica Neue Light" panose="020B0402040204020203" pitchFamily="34" charset="0"/>
              </a:rPr>
              <a:t>$11.27 Billion USD (2018)</a:t>
            </a:r>
          </a:p>
          <a:p>
            <a:pPr>
              <a:lnSpc>
                <a:spcPct val="150000"/>
              </a:lnSpc>
            </a:pPr>
            <a:r>
              <a:rPr lang="en-US" b="1" dirty="0">
                <a:solidFill>
                  <a:srgbClr val="D24726"/>
                </a:solidFill>
                <a:latin typeface="Helvetica Neue" panose="020B0702040204020203" pitchFamily="34" charset="0"/>
                <a:ea typeface="Helvetica Neue" panose="020B0702040204020203" pitchFamily="34" charset="0"/>
              </a:rPr>
              <a:t>Headquarters: </a:t>
            </a:r>
            <a:r>
              <a:rPr lang="en-US" dirty="0">
                <a:solidFill>
                  <a:schemeClr val="tx1">
                    <a:lumMod val="65000"/>
                    <a:lumOff val="35000"/>
                  </a:schemeClr>
                </a:solidFill>
                <a:latin typeface="Helvetica Neue Light" panose="020B0402040204020203" pitchFamily="34" charset="0"/>
                <a:cs typeface="Helvetica Neue Light" panose="020B0402040204020203" pitchFamily="34" charset="0"/>
              </a:rPr>
              <a:t>San Francisco, CA</a:t>
            </a:r>
          </a:p>
          <a:p>
            <a:pPr>
              <a:lnSpc>
                <a:spcPct val="150000"/>
              </a:lnSpc>
            </a:pPr>
            <a:r>
              <a:rPr lang="en-US" b="1" dirty="0">
                <a:solidFill>
                  <a:srgbClr val="D24726"/>
                </a:solidFill>
                <a:latin typeface="Helvetica Neue" panose="020B0702040204020203" pitchFamily="34" charset="0"/>
                <a:ea typeface="Helvetica Neue" panose="020B0702040204020203" pitchFamily="34" charset="0"/>
              </a:rPr>
              <a:t>Founders: </a:t>
            </a:r>
            <a:r>
              <a:rPr lang="en-US" dirty="0">
                <a:solidFill>
                  <a:schemeClr val="tx1">
                    <a:lumMod val="65000"/>
                    <a:lumOff val="35000"/>
                  </a:schemeClr>
                </a:solidFill>
                <a:latin typeface="Helvetica Neue Light" panose="020B0402040204020203" pitchFamily="34" charset="0"/>
                <a:cs typeface="Helvetica Neue Light" panose="020B0402040204020203" pitchFamily="34" charset="0"/>
              </a:rPr>
              <a:t>Travis Kalanick, Garrett Camp, Oscar Salazar</a:t>
            </a:r>
          </a:p>
          <a:p>
            <a:pPr>
              <a:lnSpc>
                <a:spcPct val="150000"/>
              </a:lnSpc>
            </a:pPr>
            <a:r>
              <a:rPr lang="en-US" b="1" dirty="0">
                <a:solidFill>
                  <a:srgbClr val="D24726"/>
                </a:solidFill>
                <a:latin typeface="Helvetica Neue" panose="020B0702040204020203" pitchFamily="34" charset="0"/>
                <a:ea typeface="Helvetica Neue" panose="020B0702040204020203" pitchFamily="34" charset="0"/>
              </a:rPr>
              <a:t>Subsidiary: </a:t>
            </a:r>
            <a:r>
              <a:rPr lang="en-US" dirty="0">
                <a:solidFill>
                  <a:schemeClr val="tx1">
                    <a:lumMod val="65000"/>
                    <a:lumOff val="35000"/>
                  </a:schemeClr>
                </a:solidFill>
                <a:latin typeface="Helvetica Neue Light" panose="020B0402040204020203" pitchFamily="34" charset="0"/>
                <a:cs typeface="Helvetica Neue Light" panose="020B0402040204020203" pitchFamily="34" charset="0"/>
              </a:rPr>
              <a:t>Uber Eats, Careem, Otto, Mighty AI, deCarta, Social Bicycles, Jump Bikes, orderTalk Inc. (acquired by Uber Technologies Inc.)...</a:t>
            </a:r>
          </a:p>
          <a:p>
            <a:pPr>
              <a:lnSpc>
                <a:spcPct val="150000"/>
              </a:lnSpc>
            </a:pPr>
            <a:r>
              <a:rPr lang="en-US" b="1" dirty="0">
                <a:solidFill>
                  <a:srgbClr val="D24726"/>
                </a:solidFill>
                <a:latin typeface="Helvetica Neue" panose="020B0702040204020203" pitchFamily="34" charset="0"/>
                <a:ea typeface="Helvetica Neue" panose="020B0702040204020203" pitchFamily="34" charset="0"/>
              </a:rPr>
              <a:t>Chairman: </a:t>
            </a:r>
            <a:r>
              <a:rPr lang="en-US" dirty="0">
                <a:solidFill>
                  <a:schemeClr val="tx1">
                    <a:lumMod val="65000"/>
                    <a:lumOff val="35000"/>
                  </a:schemeClr>
                </a:solidFill>
                <a:latin typeface="Helvetica Neue Light" panose="020B0402040204020203" pitchFamily="34" charset="0"/>
                <a:cs typeface="Helvetica Neue Light" panose="020B0402040204020203" pitchFamily="34" charset="0"/>
              </a:rPr>
              <a:t>Ronald Sugar</a:t>
            </a:r>
          </a:p>
        </p:txBody>
      </p:sp>
      <p:sp>
        <p:nvSpPr>
          <p:cNvPr id="23" name="Footer Placeholder 2"/>
          <p:cNvSpPr>
            <a:spLocks noGrp="1"/>
          </p:cNvSpPr>
          <p:nvPr>
            <p:ph type="ftr" sz="quarter" idx="11"/>
          </p:nvPr>
        </p:nvSpPr>
        <p:spPr>
          <a:xfrm>
            <a:off x="3222886" y="6395545"/>
            <a:ext cx="5779169" cy="365125"/>
          </a:xfrm>
        </p:spPr>
        <p:txBody>
          <a:bodyPr/>
          <a:lstStyle/>
          <a:p>
            <a:r>
              <a:rPr lang="en-US" dirty="0">
                <a:solidFill>
                  <a:schemeClr val="tx2"/>
                </a:solidFill>
                <a:latin typeface="Helvetica Neue" panose="020B0502040204020203" pitchFamily="34" charset="0"/>
                <a:ea typeface="Helvetica Neue" panose="020B0502040204020203" pitchFamily="34" charset="0"/>
                <a:cs typeface="Helvetica Neue" panose="020B0502040204020203" pitchFamily="34" charset="0"/>
                <a:hlinkClick r:id="rId4"/>
              </a:rPr>
              <a:t>en.wikipedia.org</a:t>
            </a:r>
            <a:r>
              <a:rPr lang="en-US" dirty="0">
                <a:solidFill>
                  <a:schemeClr val="tx2"/>
                </a:solidFill>
                <a:latin typeface="Helvetica Neue" panose="020B0502040204020203" pitchFamily="34" charset="0"/>
                <a:ea typeface="Helvetica Neue" panose="020B0502040204020203" pitchFamily="34" charset="0"/>
                <a:cs typeface="Helvetica Neue" panose="020B0502040204020203" pitchFamily="34" charset="0"/>
              </a:rPr>
              <a:t> - Text under </a:t>
            </a:r>
            <a:r>
              <a:rPr lang="en-US" dirty="0">
                <a:solidFill>
                  <a:schemeClr val="tx2"/>
                </a:solidFill>
                <a:latin typeface="Helvetica Neue" panose="020B0502040204020203" pitchFamily="34" charset="0"/>
                <a:ea typeface="Helvetica Neue" panose="020B0502040204020203" pitchFamily="34" charset="0"/>
                <a:cs typeface="Helvetica Neue" panose="020B0502040204020203" pitchFamily="34" charset="0"/>
                <a:hlinkClick r:id="rId5"/>
              </a:rPr>
              <a:t>CC-BY-SA license</a:t>
            </a:r>
            <a:endParaRPr lang="en-US" dirty="0"/>
          </a:p>
        </p:txBody>
      </p:sp>
      <p:grpSp>
        <p:nvGrpSpPr>
          <p:cNvPr id="3" name="Group 2">
            <a:extLst>
              <a:ext uri="{FF2B5EF4-FFF2-40B4-BE49-F238E27FC236}">
                <a16:creationId xmlns:a16="http://schemas.microsoft.com/office/drawing/2014/main" id="{5339581B-C530-E7DF-F0E9-8E77E0B8C66C}"/>
              </a:ext>
            </a:extLst>
          </p:cNvPr>
          <p:cNvGrpSpPr/>
          <p:nvPr/>
        </p:nvGrpSpPr>
        <p:grpSpPr>
          <a:xfrm>
            <a:off x="596611" y="5300126"/>
            <a:ext cx="2880408" cy="1082967"/>
            <a:chOff x="626301" y="4860099"/>
            <a:chExt cx="2880408" cy="1082967"/>
          </a:xfrm>
        </p:grpSpPr>
        <p:pic>
          <p:nvPicPr>
            <p:cNvPr id="1026" name="Picture 2" descr="L.A. by the Slice: What Are We Thinking While Using Uber? - LAmag -  Culture, Food, Fashion, News &amp; Los Angeles">
              <a:extLst>
                <a:ext uri="{FF2B5EF4-FFF2-40B4-BE49-F238E27FC236}">
                  <a16:creationId xmlns:a16="http://schemas.microsoft.com/office/drawing/2014/main" id="{A5068BB2-B6B9-A780-0764-83E0534160FC}"/>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backgroundRemoval t="9956" b="89934" l="4667" r="95583">
                          <a14:foregroundMark x1="17000" y1="35619" x2="11583" y2="36394"/>
                          <a14:foregroundMark x1="11583" y1="36394" x2="7997" y2="40952"/>
                          <a14:foregroundMark x1="6317" y1="51657" x2="5750" y2="55973"/>
                          <a14:foregroundMark x1="5750" y1="55973" x2="8667" y2="61726"/>
                          <a14:foregroundMark x1="8667" y1="61726" x2="13333" y2="58407"/>
                          <a14:foregroundMark x1="13333" y1="58407" x2="13417" y2="38717"/>
                          <a14:foregroundMark x1="4667" y1="53872" x2="4750" y2="66814"/>
                          <a14:foregroundMark x1="88583" y1="47677" x2="92917" y2="52544"/>
                          <a14:foregroundMark x1="92917" y1="52544" x2="94667" y2="59513"/>
                          <a14:foregroundMark x1="94667" y1="59513" x2="91083" y2="64712"/>
                          <a14:foregroundMark x1="91083" y1="64712" x2="88583" y2="48230"/>
                          <a14:foregroundMark x1="94083" y1="55752" x2="95583" y2="62721"/>
                          <a14:foregroundMark x1="95583" y1="62721" x2="94500" y2="58407"/>
                          <a14:backgroundMark x1="6167" y1="41150" x2="6583" y2="48009"/>
                          <a14:backgroundMark x1="6583" y1="48009" x2="5333" y2="50996"/>
                          <a14:backgroundMark x1="8250" y1="41593" x2="6833" y2="40929"/>
                          <a14:backgroundMark x1="7500" y1="41261" x2="7500" y2="41261"/>
                          <a14:backgroundMark x1="7500" y1="40929" x2="7500" y2="40929"/>
                          <a14:backgroundMark x1="7833" y1="41150" x2="6417" y2="41593"/>
                          <a14:backgroundMark x1="5917" y1="52102" x2="5750" y2="50000"/>
                        </a14:backgroundRemoval>
                      </a14:imgEffect>
                    </a14:imgLayer>
                  </a14:imgProps>
                </a:ext>
                <a:ext uri="{28A0092B-C50C-407E-A947-70E740481C1C}">
                  <a14:useLocalDpi xmlns:a14="http://schemas.microsoft.com/office/drawing/2010/main" val="0"/>
                </a:ext>
              </a:extLst>
            </a:blip>
            <a:srcRect l="3414" t="27367" r="2479" b="25662"/>
            <a:stretch/>
          </p:blipFill>
          <p:spPr bwMode="auto">
            <a:xfrm>
              <a:off x="626301" y="4860099"/>
              <a:ext cx="2880408" cy="108296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Uber - Request a ride on the App Store">
              <a:extLst>
                <a:ext uri="{FF2B5EF4-FFF2-40B4-BE49-F238E27FC236}">
                  <a16:creationId xmlns:a16="http://schemas.microsoft.com/office/drawing/2014/main" id="{439E07B3-4D12-4938-CBA2-CF9B4E71C832}"/>
                </a:ext>
              </a:extLst>
            </p:cNvPr>
            <p:cNvPicPr>
              <a:picLocks noChangeAspect="1" noChangeArrowheads="1"/>
            </p:cNvPicPr>
            <p:nvPr/>
          </p:nvPicPr>
          <p:blipFill rotWithShape="1">
            <a:blip r:embed="rId8">
              <a:extLst>
                <a:ext uri="{BEBA8EAE-BF5A-486C-A8C5-ECC9F3942E4B}">
                  <a14:imgProps xmlns:a14="http://schemas.microsoft.com/office/drawing/2010/main">
                    <a14:imgLayer r:embed="rId9">
                      <a14:imgEffect>
                        <a14:backgroundRemoval t="10000" b="90000" l="10000" r="90000">
                          <a14:foregroundMark x1="60645" y1="39877" x2="35806" y2="39877"/>
                          <a14:foregroundMark x1="35806" y1="39877" x2="40645" y2="63190"/>
                          <a14:foregroundMark x1="40645" y1="63190" x2="52581" y2="68098"/>
                          <a14:foregroundMark x1="52581" y1="68098" x2="63548" y2="56442"/>
                          <a14:foregroundMark x1="63548" y1="56442" x2="60645" y2="43558"/>
                          <a14:foregroundMark x1="41613" y1="43558" x2="41613" y2="49693"/>
                          <a14:foregroundMark x1="44194" y1="43558" x2="44194" y2="54601"/>
                          <a14:foregroundMark x1="50000" y1="51534" x2="50000" y2="57669"/>
                          <a14:foregroundMark x1="38710" y1="60123" x2="36452" y2="60736"/>
                          <a14:foregroundMark x1="34839" y1="47239" x2="35161" y2="53374"/>
                          <a14:foregroundMark x1="45806" y1="47239" x2="51613" y2="51534"/>
                          <a14:foregroundMark x1="55484" y1="53374" x2="57742" y2="53988"/>
                          <a14:foregroundMark x1="57742" y1="50920" x2="56452" y2="47239"/>
                          <a14:foregroundMark x1="54839" y1="48466" x2="51935" y2="52147"/>
                          <a14:foregroundMark x1="53871" y1="55828" x2="57419" y2="58896"/>
                        </a14:backgroundRemoval>
                      </a14:imgEffect>
                    </a14:imgLayer>
                  </a14:imgProps>
                </a:ext>
                <a:ext uri="{28A0092B-C50C-407E-A947-70E740481C1C}">
                  <a14:useLocalDpi xmlns:a14="http://schemas.microsoft.com/office/drawing/2010/main" val="0"/>
                </a:ext>
              </a:extLst>
            </a:blip>
            <a:srcRect l="31652" t="15969" r="31123" b="15050"/>
            <a:stretch/>
          </p:blipFill>
          <p:spPr bwMode="auto">
            <a:xfrm>
              <a:off x="1858104" y="5327284"/>
              <a:ext cx="416801" cy="406114"/>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748667521"/>
      </p:ext>
    </p:extLst>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fill="hold" nodeType="afterEffect" p14:presetBounceEnd="50000">
                                      <p:stCondLst>
                                        <p:cond delay="0"/>
                                      </p:stCondLst>
                                      <p:childTnLst>
                                        <p:animMotion origin="layout" path="M -0.14688 -0.00069 L 0.80755 -0.00069 " pathEditMode="relative" rAng="0" ptsTypes="AA" p14:bounceEnd="50000">
                                          <p:cBhvr>
                                            <p:cTn id="6" dur="5000" fill="hold"/>
                                            <p:tgtEl>
                                              <p:spTgt spid="3"/>
                                            </p:tgtEl>
                                            <p:attrNameLst>
                                              <p:attrName>ppt_x</p:attrName>
                                              <p:attrName>ppt_y</p:attrName>
                                            </p:attrNameLst>
                                          </p:cBhvr>
                                          <p:rCtr x="47721" y="0"/>
                                        </p:animMotion>
                                      </p:childTnLst>
                                      <p:subTnLst>
                                        <p:audio>
                                          <p:cMediaNode>
                                            <p:cTn display="0" masterRel="sameClick">
                                              <p:stCondLst>
                                                <p:cond evt="begin" delay="0">
                                                  <p:tn val="5"/>
                                                </p:cond>
                                              </p:stCondLst>
                                              <p:endCondLst>
                                                <p:cond evt="onStopAudio" delay="0">
                                                  <p:tgtEl>
                                                    <p:sldTgt/>
                                                  </p:tgtEl>
                                                </p:cond>
                                              </p:endCondLst>
                                            </p:cTn>
                                            <p:tgtEl>
                                              <p:sndTgt r:embed="rId3" name="pu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fill="hold" nodeType="afterEffect">
                                      <p:stCondLst>
                                        <p:cond delay="0"/>
                                      </p:stCondLst>
                                      <p:childTnLst>
                                        <p:animMotion origin="layout" path="M -0.14688 -0.00069 L 0.80755 -0.00069 " pathEditMode="relative" rAng="0" ptsTypes="AA">
                                          <p:cBhvr>
                                            <p:cTn id="6" dur="5000" fill="hold"/>
                                            <p:tgtEl>
                                              <p:spTgt spid="3"/>
                                            </p:tgtEl>
                                            <p:attrNameLst>
                                              <p:attrName>ppt_x</p:attrName>
                                              <p:attrName>ppt_y</p:attrName>
                                            </p:attrNameLst>
                                          </p:cBhvr>
                                          <p:rCtr x="47721" y="0"/>
                                        </p:animMotion>
                                      </p:childTnLst>
                                      <p:subTnLst>
                                        <p:audio>
                                          <p:cMediaNode>
                                            <p:cTn display="0" masterRel="sameClick">
                                              <p:stCondLst>
                                                <p:cond evt="begin" delay="0">
                                                  <p:tn val="5"/>
                                                </p:cond>
                                              </p:stCondLst>
                                              <p:endCondLst>
                                                <p:cond evt="onStopAudio" delay="0">
                                                  <p:tgtEl>
                                                    <p:sldTgt/>
                                                  </p:tgtEl>
                                                </p:cond>
                                              </p:endCondLst>
                                            </p:cTn>
                                            <p:tgtEl>
                                              <p:sndTgt r:embed="rId3" name="pu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Content Placeholder 21">
            <a:extLst>
              <a:ext uri="{FF2B5EF4-FFF2-40B4-BE49-F238E27FC236}">
                <a16:creationId xmlns:a16="http://schemas.microsoft.com/office/drawing/2014/main" id="{282CB683-B267-477B-B209-C7389FAA0448}"/>
              </a:ext>
            </a:extLst>
          </p:cNvPr>
          <p:cNvSpPr>
            <a:spLocks noGrp="1"/>
          </p:cNvSpPr>
          <p:nvPr>
            <p:ph idx="1"/>
          </p:nvPr>
        </p:nvSpPr>
        <p:spPr>
          <a:xfrm>
            <a:off x="838199" y="1284718"/>
            <a:ext cx="10511661" cy="4692556"/>
          </a:xfrm>
        </p:spPr>
        <p:txBody>
          <a:bodyPr>
            <a:normAutofit fontScale="92500"/>
          </a:bodyPr>
          <a:lstStyle/>
          <a:p>
            <a:pPr>
              <a:lnSpc>
                <a:spcPts val="2400"/>
              </a:lnSpc>
              <a:spcBef>
                <a:spcPts val="1600"/>
              </a:spcBef>
            </a:pPr>
            <a:r>
              <a:rPr lang="en-US" sz="2400" b="1" dirty="0">
                <a:latin typeface="Helvetica Neue Light" panose="020B0702040204020203" pitchFamily="34" charset="0"/>
                <a:ea typeface="Helvetica Neue Light" panose="020B0702040204020203" pitchFamily="34" charset="0"/>
                <a:cs typeface="Helvetica Neue" panose="020B0502040204020203" pitchFamily="34" charset="0"/>
              </a:rPr>
              <a:t>Me: User since 2016 without incident in &amp; around Boston, to Logan airport, in Las Vegas, Miami, Chicago, Lisbon Portugal, and in the Vineyard</a:t>
            </a:r>
          </a:p>
          <a:p>
            <a:pPr>
              <a:lnSpc>
                <a:spcPts val="2400"/>
              </a:lnSpc>
              <a:spcBef>
                <a:spcPts val="1600"/>
              </a:spcBef>
            </a:pPr>
            <a:r>
              <a:rPr lang="en-US" sz="2400" b="1" dirty="0">
                <a:latin typeface="Helvetica Neue Light" panose="020B0702040204020203" pitchFamily="34" charset="0"/>
                <a:ea typeface="Helvetica Neue Light" panose="020B0702040204020203" pitchFamily="34" charset="0"/>
                <a:cs typeface="Helvetica Neue" panose="020B0502040204020203" pitchFamily="34" charset="0"/>
              </a:rPr>
              <a:t>Request your ride inside: wait until the app notifies you that the driver has arrived</a:t>
            </a:r>
          </a:p>
          <a:p>
            <a:pPr algn="l">
              <a:lnSpc>
                <a:spcPts val="2400"/>
              </a:lnSpc>
              <a:spcBef>
                <a:spcPts val="1600"/>
              </a:spcBef>
            </a:pPr>
            <a:r>
              <a:rPr lang="en-US" sz="2400" b="1" dirty="0">
                <a:latin typeface="Helvetica Neue Light" panose="020B0702040204020203" pitchFamily="34" charset="0"/>
                <a:ea typeface="Helvetica Neue Light" panose="020B0702040204020203" pitchFamily="34" charset="0"/>
                <a:cs typeface="Helvetica Neue" panose="020B0502040204020203" pitchFamily="34" charset="0"/>
              </a:rPr>
              <a:t>Check Your Ride: match license plate, car make and model, and driver photo</a:t>
            </a:r>
          </a:p>
          <a:p>
            <a:pPr algn="l">
              <a:lnSpc>
                <a:spcPts val="2400"/>
              </a:lnSpc>
              <a:spcBef>
                <a:spcPts val="1600"/>
              </a:spcBef>
            </a:pPr>
            <a:r>
              <a:rPr lang="en-US" sz="2400" b="1" dirty="0">
                <a:latin typeface="Helvetica Neue Light" panose="020B0702040204020203" pitchFamily="34" charset="0"/>
                <a:ea typeface="Helvetica Neue Light" panose="020B0702040204020203" pitchFamily="34" charset="0"/>
                <a:cs typeface="Helvetica Neue" panose="020B0502040204020203" pitchFamily="34" charset="0"/>
              </a:rPr>
              <a:t>Have the driver confirm your name: Ask, “Who are you here to pick up?”</a:t>
            </a:r>
          </a:p>
          <a:p>
            <a:pPr algn="l">
              <a:lnSpc>
                <a:spcPts val="2400"/>
              </a:lnSpc>
              <a:spcBef>
                <a:spcPts val="1600"/>
              </a:spcBef>
            </a:pPr>
            <a:r>
              <a:rPr lang="en-US" sz="2400" b="1" dirty="0">
                <a:latin typeface="Helvetica Neue Light" panose="020B0702040204020203" pitchFamily="34" charset="0"/>
                <a:ea typeface="Helvetica Neue Light" panose="020B0702040204020203" pitchFamily="34" charset="0"/>
                <a:cs typeface="Helvetica Neue" panose="020B0502040204020203" pitchFamily="34" charset="0"/>
              </a:rPr>
              <a:t>We can set up your “Trusted Contacts”): They will receive notifications that track your trip and ETA.</a:t>
            </a:r>
          </a:p>
          <a:p>
            <a:pPr algn="l">
              <a:lnSpc>
                <a:spcPts val="2400"/>
              </a:lnSpc>
              <a:spcBef>
                <a:spcPts val="1600"/>
              </a:spcBef>
            </a:pPr>
            <a:r>
              <a:rPr lang="en-US" sz="2400" b="1" dirty="0">
                <a:latin typeface="Helvetica Neue Light" panose="020B0702040204020203" pitchFamily="34" charset="0"/>
                <a:ea typeface="Helvetica Neue Light" panose="020B0702040204020203" pitchFamily="34" charset="0"/>
                <a:cs typeface="Helvetica Neue" panose="020B0502040204020203" pitchFamily="34" charset="0"/>
              </a:rPr>
              <a:t>Your personal information: phone number is masked and drop off address is not saved</a:t>
            </a:r>
          </a:p>
        </p:txBody>
      </p:sp>
      <p:sp>
        <p:nvSpPr>
          <p:cNvPr id="2" name="Title 1">
            <a:extLst>
              <a:ext uri="{FF2B5EF4-FFF2-40B4-BE49-F238E27FC236}">
                <a16:creationId xmlns:a16="http://schemas.microsoft.com/office/drawing/2014/main" id="{7F2DA537-9EAD-4C2A-8B8C-B5471C6F5D65}"/>
              </a:ext>
            </a:extLst>
          </p:cNvPr>
          <p:cNvSpPr>
            <a:spLocks noGrp="1"/>
          </p:cNvSpPr>
          <p:nvPr>
            <p:ph type="title"/>
          </p:nvPr>
        </p:nvSpPr>
        <p:spPr/>
        <p:txBody>
          <a:bodyPr>
            <a:normAutofit/>
          </a:bodyPr>
          <a:lstStyle/>
          <a:p>
            <a:r>
              <a:rPr lang="en-US" b="1" dirty="0">
                <a:latin typeface="Helvetica Neue Light" panose="020B0702040204020203" pitchFamily="34" charset="0"/>
                <a:ea typeface="Helvetica Neue Light" panose="020B0702040204020203" pitchFamily="34" charset="0"/>
                <a:cs typeface="Helvetica Neue" panose="020B0502040204020203" pitchFamily="34" charset="0"/>
              </a:rPr>
              <a:t>Uber safety: </a:t>
            </a:r>
            <a:r>
              <a:rPr lang="en-US" sz="3600" b="1" dirty="0">
                <a:latin typeface="Helvetica Neue Light" panose="020B0702040204020203" pitchFamily="34" charset="0"/>
                <a:ea typeface="Helvetica Neue Light" panose="020B0702040204020203" pitchFamily="34" charset="0"/>
                <a:cs typeface="Helvetica Neue" panose="020B0502040204020203" pitchFamily="34" charset="0"/>
                <a:hlinkClick r:id="rId3"/>
              </a:rPr>
              <a:t>Video</a:t>
            </a:r>
            <a:endParaRPr lang="en-US" b="1" dirty="0">
              <a:latin typeface="Helvetica Neue Light" panose="020B0702040204020203" pitchFamily="34" charset="0"/>
              <a:ea typeface="Helvetica Neue Light" panose="020B0702040204020203" pitchFamily="34" charset="0"/>
              <a:cs typeface="Helvetica Neue" panose="020B0502040204020203" pitchFamily="34" charset="0"/>
            </a:endParaRPr>
          </a:p>
        </p:txBody>
      </p:sp>
      <p:grpSp>
        <p:nvGrpSpPr>
          <p:cNvPr id="18" name="Group 17">
            <a:extLst>
              <a:ext uri="{FF2B5EF4-FFF2-40B4-BE49-F238E27FC236}">
                <a16:creationId xmlns:a16="http://schemas.microsoft.com/office/drawing/2014/main" id="{D9CD5FED-1295-BAD0-8ABD-CE53E84885BA}"/>
              </a:ext>
            </a:extLst>
          </p:cNvPr>
          <p:cNvGrpSpPr/>
          <p:nvPr/>
        </p:nvGrpSpPr>
        <p:grpSpPr>
          <a:xfrm>
            <a:off x="587184" y="5555109"/>
            <a:ext cx="2880408" cy="1082967"/>
            <a:chOff x="626301" y="4860099"/>
            <a:chExt cx="2880408" cy="1082967"/>
          </a:xfrm>
        </p:grpSpPr>
        <p:pic>
          <p:nvPicPr>
            <p:cNvPr id="19" name="Picture 2" descr="L.A. by the Slice: What Are We Thinking While Using Uber? - LAmag -  Culture, Food, Fashion, News &amp; Los Angeles">
              <a:extLst>
                <a:ext uri="{FF2B5EF4-FFF2-40B4-BE49-F238E27FC236}">
                  <a16:creationId xmlns:a16="http://schemas.microsoft.com/office/drawing/2014/main" id="{9EE1F695-3D20-D7A1-594B-8C78E3485B72}"/>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backgroundRemoval t="9956" b="89934" l="4667" r="95583">
                          <a14:foregroundMark x1="17000" y1="35619" x2="11583" y2="36394"/>
                          <a14:foregroundMark x1="11583" y1="36394" x2="7997" y2="40952"/>
                          <a14:foregroundMark x1="6317" y1="51657" x2="5750" y2="55973"/>
                          <a14:foregroundMark x1="5750" y1="55973" x2="8667" y2="61726"/>
                          <a14:foregroundMark x1="8667" y1="61726" x2="13333" y2="58407"/>
                          <a14:foregroundMark x1="13333" y1="58407" x2="13417" y2="38717"/>
                          <a14:foregroundMark x1="4667" y1="53872" x2="4750" y2="66814"/>
                          <a14:foregroundMark x1="88583" y1="47677" x2="92917" y2="52544"/>
                          <a14:foregroundMark x1="92917" y1="52544" x2="94667" y2="59513"/>
                          <a14:foregroundMark x1="94667" y1="59513" x2="91083" y2="64712"/>
                          <a14:foregroundMark x1="91083" y1="64712" x2="88583" y2="48230"/>
                          <a14:foregroundMark x1="94083" y1="55752" x2="95583" y2="62721"/>
                          <a14:foregroundMark x1="95583" y1="62721" x2="94500" y2="58407"/>
                          <a14:backgroundMark x1="6167" y1="41150" x2="6583" y2="48009"/>
                          <a14:backgroundMark x1="6583" y1="48009" x2="5333" y2="50996"/>
                          <a14:backgroundMark x1="8250" y1="41593" x2="6833" y2="40929"/>
                          <a14:backgroundMark x1="7500" y1="41261" x2="7500" y2="41261"/>
                          <a14:backgroundMark x1="7500" y1="40929" x2="7500" y2="40929"/>
                          <a14:backgroundMark x1="7833" y1="41150" x2="6417" y2="41593"/>
                          <a14:backgroundMark x1="5917" y1="52102" x2="5750" y2="50000"/>
                        </a14:backgroundRemoval>
                      </a14:imgEffect>
                    </a14:imgLayer>
                  </a14:imgProps>
                </a:ext>
                <a:ext uri="{28A0092B-C50C-407E-A947-70E740481C1C}">
                  <a14:useLocalDpi xmlns:a14="http://schemas.microsoft.com/office/drawing/2010/main" val="0"/>
                </a:ext>
              </a:extLst>
            </a:blip>
            <a:srcRect l="3414" t="27367" r="2479" b="25662"/>
            <a:stretch/>
          </p:blipFill>
          <p:spPr bwMode="auto">
            <a:xfrm>
              <a:off x="626301" y="4860099"/>
              <a:ext cx="2880408" cy="1082967"/>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4" descr="Uber - Request a ride on the App Store">
              <a:extLst>
                <a:ext uri="{FF2B5EF4-FFF2-40B4-BE49-F238E27FC236}">
                  <a16:creationId xmlns:a16="http://schemas.microsoft.com/office/drawing/2014/main" id="{3D2A786E-DFBD-3F69-B352-811672B64CE0}"/>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backgroundRemoval t="10000" b="90000" l="10000" r="90000">
                          <a14:foregroundMark x1="60645" y1="39877" x2="35806" y2="39877"/>
                          <a14:foregroundMark x1="35806" y1="39877" x2="40645" y2="63190"/>
                          <a14:foregroundMark x1="40645" y1="63190" x2="52581" y2="68098"/>
                          <a14:foregroundMark x1="52581" y1="68098" x2="63548" y2="56442"/>
                          <a14:foregroundMark x1="63548" y1="56442" x2="60645" y2="43558"/>
                          <a14:foregroundMark x1="41613" y1="43558" x2="41613" y2="49693"/>
                          <a14:foregroundMark x1="44194" y1="43558" x2="44194" y2="54601"/>
                          <a14:foregroundMark x1="50000" y1="51534" x2="50000" y2="57669"/>
                          <a14:foregroundMark x1="38710" y1="60123" x2="36452" y2="60736"/>
                          <a14:foregroundMark x1="34839" y1="47239" x2="35161" y2="53374"/>
                          <a14:foregroundMark x1="45806" y1="47239" x2="51613" y2="51534"/>
                          <a14:foregroundMark x1="55484" y1="53374" x2="57742" y2="53988"/>
                          <a14:foregroundMark x1="57742" y1="50920" x2="56452" y2="47239"/>
                          <a14:foregroundMark x1="54839" y1="48466" x2="51935" y2="52147"/>
                          <a14:foregroundMark x1="53871" y1="55828" x2="57419" y2="58896"/>
                        </a14:backgroundRemoval>
                      </a14:imgEffect>
                    </a14:imgLayer>
                  </a14:imgProps>
                </a:ext>
                <a:ext uri="{28A0092B-C50C-407E-A947-70E740481C1C}">
                  <a14:useLocalDpi xmlns:a14="http://schemas.microsoft.com/office/drawing/2010/main" val="0"/>
                </a:ext>
              </a:extLst>
            </a:blip>
            <a:srcRect l="31652" t="15969" r="31123" b="15050"/>
            <a:stretch/>
          </p:blipFill>
          <p:spPr bwMode="auto">
            <a:xfrm>
              <a:off x="1858104" y="5327284"/>
              <a:ext cx="416801" cy="406114"/>
            </a:xfrm>
            <a:prstGeom prst="rect">
              <a:avLst/>
            </a:prstGeom>
            <a:noFill/>
            <a:extLst>
              <a:ext uri="{909E8E84-426E-40DD-AFC4-6F175D3DCCD1}">
                <a14:hiddenFill xmlns:a14="http://schemas.microsoft.com/office/drawing/2010/main">
                  <a:solidFill>
                    <a:srgbClr val="FFFFFF"/>
                  </a:solidFill>
                </a14:hiddenFill>
              </a:ext>
            </a:extLst>
          </p:spPr>
        </p:pic>
      </p:grpSp>
      <p:pic>
        <p:nvPicPr>
          <p:cNvPr id="25" name="Picture 24" descr="A screen shot of a phone&#10;&#10;Description automatically generated">
            <a:extLst>
              <a:ext uri="{FF2B5EF4-FFF2-40B4-BE49-F238E27FC236}">
                <a16:creationId xmlns:a16="http://schemas.microsoft.com/office/drawing/2014/main" id="{BA36BC52-06C0-450F-C0C7-14FCCA05CE6F}"/>
              </a:ext>
            </a:extLst>
          </p:cNvPr>
          <p:cNvPicPr>
            <a:picLocks noChangeAspect="1"/>
          </p:cNvPicPr>
          <p:nvPr/>
        </p:nvPicPr>
        <p:blipFill rotWithShape="1">
          <a:blip r:embed="rId8">
            <a:extLst>
              <a:ext uri="{28A0092B-C50C-407E-A947-70E740481C1C}">
                <a14:useLocalDpi xmlns:a14="http://schemas.microsoft.com/office/drawing/2010/main" val="0"/>
              </a:ext>
            </a:extLst>
          </a:blip>
          <a:srcRect b="7562"/>
          <a:stretch/>
        </p:blipFill>
        <p:spPr>
          <a:xfrm>
            <a:off x="2539355" y="43438"/>
            <a:ext cx="6781259" cy="6771124"/>
          </a:xfrm>
          <a:prstGeom prst="rect">
            <a:avLst/>
          </a:prstGeom>
        </p:spPr>
      </p:pic>
      <p:sp>
        <p:nvSpPr>
          <p:cNvPr id="26" name="Freeform 25">
            <a:extLst>
              <a:ext uri="{FF2B5EF4-FFF2-40B4-BE49-F238E27FC236}">
                <a16:creationId xmlns:a16="http://schemas.microsoft.com/office/drawing/2014/main" id="{C85825FA-673A-8ABF-B167-B731A8962E6D}"/>
              </a:ext>
            </a:extLst>
          </p:cNvPr>
          <p:cNvSpPr/>
          <p:nvPr/>
        </p:nvSpPr>
        <p:spPr>
          <a:xfrm>
            <a:off x="7536741" y="4384282"/>
            <a:ext cx="1187669" cy="1282262"/>
          </a:xfrm>
          <a:custGeom>
            <a:avLst/>
            <a:gdLst>
              <a:gd name="connsiteX0" fmla="*/ 1019504 w 3658221"/>
              <a:gd name="connsiteY0" fmla="*/ 178675 h 2908281"/>
              <a:gd name="connsiteX1" fmla="*/ 935421 w 3658221"/>
              <a:gd name="connsiteY1" fmla="*/ 157655 h 2908281"/>
              <a:gd name="connsiteX2" fmla="*/ 777766 w 3658221"/>
              <a:gd name="connsiteY2" fmla="*/ 136634 h 2908281"/>
              <a:gd name="connsiteX3" fmla="*/ 693683 w 3658221"/>
              <a:gd name="connsiteY3" fmla="*/ 115613 h 2908281"/>
              <a:gd name="connsiteX4" fmla="*/ 609600 w 3658221"/>
              <a:gd name="connsiteY4" fmla="*/ 105103 h 2908281"/>
              <a:gd name="connsiteX5" fmla="*/ 557048 w 3658221"/>
              <a:gd name="connsiteY5" fmla="*/ 94593 h 2908281"/>
              <a:gd name="connsiteX6" fmla="*/ 462455 w 3658221"/>
              <a:gd name="connsiteY6" fmla="*/ 84082 h 2908281"/>
              <a:gd name="connsiteX7" fmla="*/ 231228 w 3658221"/>
              <a:gd name="connsiteY7" fmla="*/ 94593 h 2908281"/>
              <a:gd name="connsiteX8" fmla="*/ 168166 w 3658221"/>
              <a:gd name="connsiteY8" fmla="*/ 115613 h 2908281"/>
              <a:gd name="connsiteX9" fmla="*/ 147145 w 3658221"/>
              <a:gd name="connsiteY9" fmla="*/ 147144 h 2908281"/>
              <a:gd name="connsiteX10" fmla="*/ 147145 w 3658221"/>
              <a:gd name="connsiteY10" fmla="*/ 325820 h 2908281"/>
              <a:gd name="connsiteX11" fmla="*/ 136635 w 3658221"/>
              <a:gd name="connsiteY11" fmla="*/ 409903 h 2908281"/>
              <a:gd name="connsiteX12" fmla="*/ 105104 w 3658221"/>
              <a:gd name="connsiteY12" fmla="*/ 451944 h 2908281"/>
              <a:gd name="connsiteX13" fmla="*/ 73573 w 3658221"/>
              <a:gd name="connsiteY13" fmla="*/ 515006 h 2908281"/>
              <a:gd name="connsiteX14" fmla="*/ 42042 w 3658221"/>
              <a:gd name="connsiteY14" fmla="*/ 557048 h 2908281"/>
              <a:gd name="connsiteX15" fmla="*/ 21021 w 3658221"/>
              <a:gd name="connsiteY15" fmla="*/ 599089 h 2908281"/>
              <a:gd name="connsiteX16" fmla="*/ 10510 w 3658221"/>
              <a:gd name="connsiteY16" fmla="*/ 641131 h 2908281"/>
              <a:gd name="connsiteX17" fmla="*/ 0 w 3658221"/>
              <a:gd name="connsiteY17" fmla="*/ 672662 h 2908281"/>
              <a:gd name="connsiteX18" fmla="*/ 31531 w 3658221"/>
              <a:gd name="connsiteY18" fmla="*/ 830317 h 2908281"/>
              <a:gd name="connsiteX19" fmla="*/ 52552 w 3658221"/>
              <a:gd name="connsiteY19" fmla="*/ 861848 h 2908281"/>
              <a:gd name="connsiteX20" fmla="*/ 63062 w 3658221"/>
              <a:gd name="connsiteY20" fmla="*/ 1303282 h 2908281"/>
              <a:gd name="connsiteX21" fmla="*/ 84083 w 3658221"/>
              <a:gd name="connsiteY21" fmla="*/ 1376855 h 2908281"/>
              <a:gd name="connsiteX22" fmla="*/ 126124 w 3658221"/>
              <a:gd name="connsiteY22" fmla="*/ 1439917 h 2908281"/>
              <a:gd name="connsiteX23" fmla="*/ 147145 w 3658221"/>
              <a:gd name="connsiteY23" fmla="*/ 1471448 h 2908281"/>
              <a:gd name="connsiteX24" fmla="*/ 178676 w 3658221"/>
              <a:gd name="connsiteY24" fmla="*/ 1502979 h 2908281"/>
              <a:gd name="connsiteX25" fmla="*/ 157655 w 3658221"/>
              <a:gd name="connsiteY25" fmla="*/ 1555531 h 2908281"/>
              <a:gd name="connsiteX26" fmla="*/ 147145 w 3658221"/>
              <a:gd name="connsiteY26" fmla="*/ 1587062 h 2908281"/>
              <a:gd name="connsiteX27" fmla="*/ 94593 w 3658221"/>
              <a:gd name="connsiteY27" fmla="*/ 1671144 h 2908281"/>
              <a:gd name="connsiteX28" fmla="*/ 73573 w 3658221"/>
              <a:gd name="connsiteY28" fmla="*/ 1734206 h 2908281"/>
              <a:gd name="connsiteX29" fmla="*/ 63062 w 3658221"/>
              <a:gd name="connsiteY29" fmla="*/ 1765737 h 2908281"/>
              <a:gd name="connsiteX30" fmla="*/ 31531 w 3658221"/>
              <a:gd name="connsiteY30" fmla="*/ 1807779 h 2908281"/>
              <a:gd name="connsiteX31" fmla="*/ 21021 w 3658221"/>
              <a:gd name="connsiteY31" fmla="*/ 1849820 h 2908281"/>
              <a:gd name="connsiteX32" fmla="*/ 10510 w 3658221"/>
              <a:gd name="connsiteY32" fmla="*/ 1881351 h 2908281"/>
              <a:gd name="connsiteX33" fmla="*/ 94593 w 3658221"/>
              <a:gd name="connsiteY33" fmla="*/ 2049517 h 2908281"/>
              <a:gd name="connsiteX34" fmla="*/ 189186 w 3658221"/>
              <a:gd name="connsiteY34" fmla="*/ 2175641 h 2908281"/>
              <a:gd name="connsiteX35" fmla="*/ 262759 w 3658221"/>
              <a:gd name="connsiteY35" fmla="*/ 2228193 h 2908281"/>
              <a:gd name="connsiteX36" fmla="*/ 325821 w 3658221"/>
              <a:gd name="connsiteY36" fmla="*/ 2270234 h 2908281"/>
              <a:gd name="connsiteX37" fmla="*/ 357352 w 3658221"/>
              <a:gd name="connsiteY37" fmla="*/ 2375337 h 2908281"/>
              <a:gd name="connsiteX38" fmla="*/ 388883 w 3658221"/>
              <a:gd name="connsiteY38" fmla="*/ 2459420 h 2908281"/>
              <a:gd name="connsiteX39" fmla="*/ 420414 w 3658221"/>
              <a:gd name="connsiteY39" fmla="*/ 2501462 h 2908281"/>
              <a:gd name="connsiteX40" fmla="*/ 546538 w 3658221"/>
              <a:gd name="connsiteY40" fmla="*/ 2606565 h 2908281"/>
              <a:gd name="connsiteX41" fmla="*/ 620110 w 3658221"/>
              <a:gd name="connsiteY41" fmla="*/ 2638096 h 2908281"/>
              <a:gd name="connsiteX42" fmla="*/ 693683 w 3658221"/>
              <a:gd name="connsiteY42" fmla="*/ 2648606 h 2908281"/>
              <a:gd name="connsiteX43" fmla="*/ 735724 w 3658221"/>
              <a:gd name="connsiteY43" fmla="*/ 2659117 h 2908281"/>
              <a:gd name="connsiteX44" fmla="*/ 767255 w 3658221"/>
              <a:gd name="connsiteY44" fmla="*/ 2669627 h 2908281"/>
              <a:gd name="connsiteX45" fmla="*/ 851338 w 3658221"/>
              <a:gd name="connsiteY45" fmla="*/ 2680137 h 2908281"/>
              <a:gd name="connsiteX46" fmla="*/ 1240221 w 3658221"/>
              <a:gd name="connsiteY46" fmla="*/ 2659117 h 2908281"/>
              <a:gd name="connsiteX47" fmla="*/ 1271752 w 3658221"/>
              <a:gd name="connsiteY47" fmla="*/ 2648606 h 2908281"/>
              <a:gd name="connsiteX48" fmla="*/ 1376855 w 3658221"/>
              <a:gd name="connsiteY48" fmla="*/ 2617075 h 2908281"/>
              <a:gd name="connsiteX49" fmla="*/ 1408386 w 3658221"/>
              <a:gd name="connsiteY49" fmla="*/ 2606565 h 2908281"/>
              <a:gd name="connsiteX50" fmla="*/ 1439917 w 3658221"/>
              <a:gd name="connsiteY50" fmla="*/ 2585544 h 2908281"/>
              <a:gd name="connsiteX51" fmla="*/ 1481959 w 3658221"/>
              <a:gd name="connsiteY51" fmla="*/ 2617075 h 2908281"/>
              <a:gd name="connsiteX52" fmla="*/ 1608083 w 3658221"/>
              <a:gd name="connsiteY52" fmla="*/ 2711669 h 2908281"/>
              <a:gd name="connsiteX53" fmla="*/ 1797269 w 3658221"/>
              <a:gd name="connsiteY53" fmla="*/ 2795751 h 2908281"/>
              <a:gd name="connsiteX54" fmla="*/ 1881352 w 3658221"/>
              <a:gd name="connsiteY54" fmla="*/ 2816772 h 2908281"/>
              <a:gd name="connsiteX55" fmla="*/ 1975945 w 3658221"/>
              <a:gd name="connsiteY55" fmla="*/ 2848303 h 2908281"/>
              <a:gd name="connsiteX56" fmla="*/ 2049517 w 3658221"/>
              <a:gd name="connsiteY56" fmla="*/ 2869324 h 2908281"/>
              <a:gd name="connsiteX57" fmla="*/ 2123090 w 3658221"/>
              <a:gd name="connsiteY57" fmla="*/ 2879834 h 2908281"/>
              <a:gd name="connsiteX58" fmla="*/ 2154621 w 3658221"/>
              <a:gd name="connsiteY58" fmla="*/ 2890344 h 2908281"/>
              <a:gd name="connsiteX59" fmla="*/ 2511973 w 3658221"/>
              <a:gd name="connsiteY59" fmla="*/ 2890344 h 2908281"/>
              <a:gd name="connsiteX60" fmla="*/ 2606566 w 3658221"/>
              <a:gd name="connsiteY60" fmla="*/ 2869324 h 2908281"/>
              <a:gd name="connsiteX61" fmla="*/ 2669628 w 3658221"/>
              <a:gd name="connsiteY61" fmla="*/ 2827282 h 2908281"/>
              <a:gd name="connsiteX62" fmla="*/ 2921876 w 3658221"/>
              <a:gd name="connsiteY62" fmla="*/ 2806262 h 2908281"/>
              <a:gd name="connsiteX63" fmla="*/ 2963917 w 3658221"/>
              <a:gd name="connsiteY63" fmla="*/ 2774731 h 2908281"/>
              <a:gd name="connsiteX64" fmla="*/ 3005959 w 3658221"/>
              <a:gd name="connsiteY64" fmla="*/ 2690648 h 2908281"/>
              <a:gd name="connsiteX65" fmla="*/ 3048000 w 3658221"/>
              <a:gd name="connsiteY65" fmla="*/ 2564524 h 2908281"/>
              <a:gd name="connsiteX66" fmla="*/ 3058510 w 3658221"/>
              <a:gd name="connsiteY66" fmla="*/ 2522482 h 2908281"/>
              <a:gd name="connsiteX67" fmla="*/ 3079531 w 3658221"/>
              <a:gd name="connsiteY67" fmla="*/ 2459420 h 2908281"/>
              <a:gd name="connsiteX68" fmla="*/ 3090042 w 3658221"/>
              <a:gd name="connsiteY68" fmla="*/ 2417379 h 2908281"/>
              <a:gd name="connsiteX69" fmla="*/ 3184635 w 3658221"/>
              <a:gd name="connsiteY69" fmla="*/ 2375337 h 2908281"/>
              <a:gd name="connsiteX70" fmla="*/ 3331779 w 3658221"/>
              <a:gd name="connsiteY70" fmla="*/ 2280744 h 2908281"/>
              <a:gd name="connsiteX71" fmla="*/ 3363310 w 3658221"/>
              <a:gd name="connsiteY71" fmla="*/ 2259724 h 2908281"/>
              <a:gd name="connsiteX72" fmla="*/ 3415862 w 3658221"/>
              <a:gd name="connsiteY72" fmla="*/ 2196662 h 2908281"/>
              <a:gd name="connsiteX73" fmla="*/ 3426373 w 3658221"/>
              <a:gd name="connsiteY73" fmla="*/ 2165131 h 2908281"/>
              <a:gd name="connsiteX74" fmla="*/ 3457904 w 3658221"/>
              <a:gd name="connsiteY74" fmla="*/ 2112579 h 2908281"/>
              <a:gd name="connsiteX75" fmla="*/ 3468414 w 3658221"/>
              <a:gd name="connsiteY75" fmla="*/ 2081048 h 2908281"/>
              <a:gd name="connsiteX76" fmla="*/ 3541986 w 3658221"/>
              <a:gd name="connsiteY76" fmla="*/ 2060027 h 2908281"/>
              <a:gd name="connsiteX77" fmla="*/ 3615559 w 3658221"/>
              <a:gd name="connsiteY77" fmla="*/ 1996965 h 2908281"/>
              <a:gd name="connsiteX78" fmla="*/ 3647090 w 3658221"/>
              <a:gd name="connsiteY78" fmla="*/ 1944413 h 2908281"/>
              <a:gd name="connsiteX79" fmla="*/ 3647090 w 3658221"/>
              <a:gd name="connsiteY79" fmla="*/ 1797269 h 2908281"/>
              <a:gd name="connsiteX80" fmla="*/ 3573517 w 3658221"/>
              <a:gd name="connsiteY80" fmla="*/ 1681655 h 2908281"/>
              <a:gd name="connsiteX81" fmla="*/ 3552497 w 3658221"/>
              <a:gd name="connsiteY81" fmla="*/ 1177158 h 2908281"/>
              <a:gd name="connsiteX82" fmla="*/ 3531476 w 3658221"/>
              <a:gd name="connsiteY82" fmla="*/ 1124606 h 2908281"/>
              <a:gd name="connsiteX83" fmla="*/ 3384331 w 3658221"/>
              <a:gd name="connsiteY83" fmla="*/ 809296 h 2908281"/>
              <a:gd name="connsiteX84" fmla="*/ 3331779 w 3658221"/>
              <a:gd name="connsiteY84" fmla="*/ 725213 h 2908281"/>
              <a:gd name="connsiteX85" fmla="*/ 3226676 w 3658221"/>
              <a:gd name="connsiteY85" fmla="*/ 420413 h 2908281"/>
              <a:gd name="connsiteX86" fmla="*/ 3184635 w 3658221"/>
              <a:gd name="connsiteY86" fmla="*/ 262758 h 2908281"/>
              <a:gd name="connsiteX87" fmla="*/ 3132083 w 3658221"/>
              <a:gd name="connsiteY87" fmla="*/ 199696 h 2908281"/>
              <a:gd name="connsiteX88" fmla="*/ 2963917 w 3658221"/>
              <a:gd name="connsiteY88" fmla="*/ 147144 h 2908281"/>
              <a:gd name="connsiteX89" fmla="*/ 2806262 w 3658221"/>
              <a:gd name="connsiteY89" fmla="*/ 126124 h 2908281"/>
              <a:gd name="connsiteX90" fmla="*/ 2522483 w 3658221"/>
              <a:gd name="connsiteY90" fmla="*/ 168165 h 2908281"/>
              <a:gd name="connsiteX91" fmla="*/ 2385848 w 3658221"/>
              <a:gd name="connsiteY91" fmla="*/ 220717 h 2908281"/>
              <a:gd name="connsiteX92" fmla="*/ 2175642 w 3658221"/>
              <a:gd name="connsiteY92" fmla="*/ 126124 h 2908281"/>
              <a:gd name="connsiteX93" fmla="*/ 1965435 w 3658221"/>
              <a:gd name="connsiteY93" fmla="*/ 0 h 2908281"/>
              <a:gd name="connsiteX94" fmla="*/ 1818290 w 3658221"/>
              <a:gd name="connsiteY94" fmla="*/ 63062 h 2908281"/>
              <a:gd name="connsiteX95" fmla="*/ 1744717 w 3658221"/>
              <a:gd name="connsiteY95" fmla="*/ 115613 h 2908281"/>
              <a:gd name="connsiteX96" fmla="*/ 1629104 w 3658221"/>
              <a:gd name="connsiteY96" fmla="*/ 147144 h 2908281"/>
              <a:gd name="connsiteX97" fmla="*/ 1460938 w 3658221"/>
              <a:gd name="connsiteY97" fmla="*/ 178675 h 2908281"/>
              <a:gd name="connsiteX98" fmla="*/ 1051035 w 3658221"/>
              <a:gd name="connsiteY98" fmla="*/ 178675 h 2908281"/>
              <a:gd name="connsiteX99" fmla="*/ 977462 w 3658221"/>
              <a:gd name="connsiteY99" fmla="*/ 199696 h 2908281"/>
              <a:gd name="connsiteX100" fmla="*/ 924910 w 3658221"/>
              <a:gd name="connsiteY100" fmla="*/ 231227 h 290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658221" h="2908281">
                <a:moveTo>
                  <a:pt x="1019504" y="178675"/>
                </a:moveTo>
                <a:cubicBezTo>
                  <a:pt x="991476" y="171668"/>
                  <a:pt x="963872" y="162676"/>
                  <a:pt x="935421" y="157655"/>
                </a:cubicBezTo>
                <a:cubicBezTo>
                  <a:pt x="796470" y="133134"/>
                  <a:pt x="887690" y="160189"/>
                  <a:pt x="777766" y="136634"/>
                </a:cubicBezTo>
                <a:cubicBezTo>
                  <a:pt x="749517" y="130581"/>
                  <a:pt x="722350" y="119196"/>
                  <a:pt x="693683" y="115613"/>
                </a:cubicBezTo>
                <a:cubicBezTo>
                  <a:pt x="665655" y="112110"/>
                  <a:pt x="637517" y="109398"/>
                  <a:pt x="609600" y="105103"/>
                </a:cubicBezTo>
                <a:cubicBezTo>
                  <a:pt x="591943" y="102387"/>
                  <a:pt x="574733" y="97119"/>
                  <a:pt x="557048" y="94593"/>
                </a:cubicBezTo>
                <a:cubicBezTo>
                  <a:pt x="525642" y="90106"/>
                  <a:pt x="493986" y="87586"/>
                  <a:pt x="462455" y="84082"/>
                </a:cubicBezTo>
                <a:cubicBezTo>
                  <a:pt x="385379" y="87586"/>
                  <a:pt x="307944" y="86373"/>
                  <a:pt x="231228" y="94593"/>
                </a:cubicBezTo>
                <a:cubicBezTo>
                  <a:pt x="209196" y="96954"/>
                  <a:pt x="168166" y="115613"/>
                  <a:pt x="168166" y="115613"/>
                </a:cubicBezTo>
                <a:cubicBezTo>
                  <a:pt x="161159" y="126123"/>
                  <a:pt x="152794" y="135846"/>
                  <a:pt x="147145" y="147144"/>
                </a:cubicBezTo>
                <a:cubicBezTo>
                  <a:pt x="119457" y="202521"/>
                  <a:pt x="143075" y="268841"/>
                  <a:pt x="147145" y="325820"/>
                </a:cubicBezTo>
                <a:cubicBezTo>
                  <a:pt x="143642" y="353848"/>
                  <a:pt x="145567" y="383107"/>
                  <a:pt x="136635" y="409903"/>
                </a:cubicBezTo>
                <a:cubicBezTo>
                  <a:pt x="131096" y="426521"/>
                  <a:pt x="114117" y="436923"/>
                  <a:pt x="105104" y="451944"/>
                </a:cubicBezTo>
                <a:cubicBezTo>
                  <a:pt x="93012" y="472097"/>
                  <a:pt x="85665" y="494853"/>
                  <a:pt x="73573" y="515006"/>
                </a:cubicBezTo>
                <a:cubicBezTo>
                  <a:pt x="64560" y="530027"/>
                  <a:pt x="51326" y="542193"/>
                  <a:pt x="42042" y="557048"/>
                </a:cubicBezTo>
                <a:cubicBezTo>
                  <a:pt x="33738" y="570334"/>
                  <a:pt x="26522" y="584419"/>
                  <a:pt x="21021" y="599089"/>
                </a:cubicBezTo>
                <a:cubicBezTo>
                  <a:pt x="15949" y="612615"/>
                  <a:pt x="14478" y="627241"/>
                  <a:pt x="10510" y="641131"/>
                </a:cubicBezTo>
                <a:cubicBezTo>
                  <a:pt x="7466" y="651784"/>
                  <a:pt x="3503" y="662152"/>
                  <a:pt x="0" y="672662"/>
                </a:cubicBezTo>
                <a:cubicBezTo>
                  <a:pt x="4065" y="709248"/>
                  <a:pt x="6688" y="793053"/>
                  <a:pt x="31531" y="830317"/>
                </a:cubicBezTo>
                <a:lnTo>
                  <a:pt x="52552" y="861848"/>
                </a:lnTo>
                <a:cubicBezTo>
                  <a:pt x="56055" y="1008993"/>
                  <a:pt x="56669" y="1156235"/>
                  <a:pt x="63062" y="1303282"/>
                </a:cubicBezTo>
                <a:cubicBezTo>
                  <a:pt x="63319" y="1309184"/>
                  <a:pt x="78931" y="1367581"/>
                  <a:pt x="84083" y="1376855"/>
                </a:cubicBezTo>
                <a:cubicBezTo>
                  <a:pt x="96352" y="1398939"/>
                  <a:pt x="112110" y="1418896"/>
                  <a:pt x="126124" y="1439917"/>
                </a:cubicBezTo>
                <a:cubicBezTo>
                  <a:pt x="133131" y="1450427"/>
                  <a:pt x="138213" y="1462516"/>
                  <a:pt x="147145" y="1471448"/>
                </a:cubicBezTo>
                <a:lnTo>
                  <a:pt x="178676" y="1502979"/>
                </a:lnTo>
                <a:cubicBezTo>
                  <a:pt x="171669" y="1520496"/>
                  <a:pt x="164280" y="1537865"/>
                  <a:pt x="157655" y="1555531"/>
                </a:cubicBezTo>
                <a:cubicBezTo>
                  <a:pt x="153765" y="1565904"/>
                  <a:pt x="152100" y="1577153"/>
                  <a:pt x="147145" y="1587062"/>
                </a:cubicBezTo>
                <a:cubicBezTo>
                  <a:pt x="96622" y="1688108"/>
                  <a:pt x="162008" y="1522831"/>
                  <a:pt x="94593" y="1671144"/>
                </a:cubicBezTo>
                <a:cubicBezTo>
                  <a:pt x="85424" y="1691316"/>
                  <a:pt x="80580" y="1713185"/>
                  <a:pt x="73573" y="1734206"/>
                </a:cubicBezTo>
                <a:cubicBezTo>
                  <a:pt x="70070" y="1744716"/>
                  <a:pt x="69709" y="1756874"/>
                  <a:pt x="63062" y="1765737"/>
                </a:cubicBezTo>
                <a:lnTo>
                  <a:pt x="31531" y="1807779"/>
                </a:lnTo>
                <a:cubicBezTo>
                  <a:pt x="28028" y="1821793"/>
                  <a:pt x="24989" y="1835931"/>
                  <a:pt x="21021" y="1849820"/>
                </a:cubicBezTo>
                <a:cubicBezTo>
                  <a:pt x="17977" y="1860473"/>
                  <a:pt x="9507" y="1870318"/>
                  <a:pt x="10510" y="1881351"/>
                </a:cubicBezTo>
                <a:cubicBezTo>
                  <a:pt x="19440" y="1979589"/>
                  <a:pt x="39163" y="1966374"/>
                  <a:pt x="94593" y="2049517"/>
                </a:cubicBezTo>
                <a:cubicBezTo>
                  <a:pt x="123074" y="2092238"/>
                  <a:pt x="154336" y="2140792"/>
                  <a:pt x="189186" y="2175641"/>
                </a:cubicBezTo>
                <a:cubicBezTo>
                  <a:pt x="284080" y="2270533"/>
                  <a:pt x="187261" y="2186249"/>
                  <a:pt x="262759" y="2228193"/>
                </a:cubicBezTo>
                <a:cubicBezTo>
                  <a:pt x="284843" y="2240462"/>
                  <a:pt x="325821" y="2270234"/>
                  <a:pt x="325821" y="2270234"/>
                </a:cubicBezTo>
                <a:cubicBezTo>
                  <a:pt x="341781" y="2318117"/>
                  <a:pt x="339307" y="2309173"/>
                  <a:pt x="357352" y="2375337"/>
                </a:cubicBezTo>
                <a:cubicBezTo>
                  <a:pt x="369068" y="2418295"/>
                  <a:pt x="364215" y="2419952"/>
                  <a:pt x="388883" y="2459420"/>
                </a:cubicBezTo>
                <a:cubicBezTo>
                  <a:pt x="398167" y="2474275"/>
                  <a:pt x="408696" y="2488441"/>
                  <a:pt x="420414" y="2501462"/>
                </a:cubicBezTo>
                <a:cubicBezTo>
                  <a:pt x="458452" y="2543727"/>
                  <a:pt x="495189" y="2580890"/>
                  <a:pt x="546538" y="2606565"/>
                </a:cubicBezTo>
                <a:cubicBezTo>
                  <a:pt x="569330" y="2617961"/>
                  <a:pt x="594333" y="2632941"/>
                  <a:pt x="620110" y="2638096"/>
                </a:cubicBezTo>
                <a:cubicBezTo>
                  <a:pt x="644402" y="2642954"/>
                  <a:pt x="669309" y="2644174"/>
                  <a:pt x="693683" y="2648606"/>
                </a:cubicBezTo>
                <a:cubicBezTo>
                  <a:pt x="707895" y="2651190"/>
                  <a:pt x="721835" y="2655149"/>
                  <a:pt x="735724" y="2659117"/>
                </a:cubicBezTo>
                <a:cubicBezTo>
                  <a:pt x="746377" y="2662161"/>
                  <a:pt x="756355" y="2667645"/>
                  <a:pt x="767255" y="2669627"/>
                </a:cubicBezTo>
                <a:cubicBezTo>
                  <a:pt x="795045" y="2674680"/>
                  <a:pt x="823310" y="2676634"/>
                  <a:pt x="851338" y="2680137"/>
                </a:cubicBezTo>
                <a:cubicBezTo>
                  <a:pt x="1039839" y="2674425"/>
                  <a:pt x="1107543" y="2697025"/>
                  <a:pt x="1240221" y="2659117"/>
                </a:cubicBezTo>
                <a:cubicBezTo>
                  <a:pt x="1250874" y="2656073"/>
                  <a:pt x="1261099" y="2651650"/>
                  <a:pt x="1271752" y="2648606"/>
                </a:cubicBezTo>
                <a:cubicBezTo>
                  <a:pt x="1382969" y="2616829"/>
                  <a:pt x="1226951" y="2667043"/>
                  <a:pt x="1376855" y="2617075"/>
                </a:cubicBezTo>
                <a:lnTo>
                  <a:pt x="1408386" y="2606565"/>
                </a:lnTo>
                <a:cubicBezTo>
                  <a:pt x="1418896" y="2599558"/>
                  <a:pt x="1427412" y="2583758"/>
                  <a:pt x="1439917" y="2585544"/>
                </a:cubicBezTo>
                <a:cubicBezTo>
                  <a:pt x="1457258" y="2588021"/>
                  <a:pt x="1468401" y="2605982"/>
                  <a:pt x="1481959" y="2617075"/>
                </a:cubicBezTo>
                <a:cubicBezTo>
                  <a:pt x="1562781" y="2683202"/>
                  <a:pt x="1533059" y="2669989"/>
                  <a:pt x="1608083" y="2711669"/>
                </a:cubicBezTo>
                <a:cubicBezTo>
                  <a:pt x="1655813" y="2738186"/>
                  <a:pt x="1778910" y="2789075"/>
                  <a:pt x="1797269" y="2795751"/>
                </a:cubicBezTo>
                <a:cubicBezTo>
                  <a:pt x="1824420" y="2805624"/>
                  <a:pt x="1854528" y="2806042"/>
                  <a:pt x="1881352" y="2816772"/>
                </a:cubicBezTo>
                <a:cubicBezTo>
                  <a:pt x="1961395" y="2848789"/>
                  <a:pt x="1904821" y="2828906"/>
                  <a:pt x="1975945" y="2848303"/>
                </a:cubicBezTo>
                <a:cubicBezTo>
                  <a:pt x="2000552" y="2855014"/>
                  <a:pt x="2024578" y="2863980"/>
                  <a:pt x="2049517" y="2869324"/>
                </a:cubicBezTo>
                <a:cubicBezTo>
                  <a:pt x="2073740" y="2874515"/>
                  <a:pt x="2098566" y="2876331"/>
                  <a:pt x="2123090" y="2879834"/>
                </a:cubicBezTo>
                <a:cubicBezTo>
                  <a:pt x="2133600" y="2883337"/>
                  <a:pt x="2143968" y="2887300"/>
                  <a:pt x="2154621" y="2890344"/>
                </a:cubicBezTo>
                <a:cubicBezTo>
                  <a:pt x="2282563" y="2926900"/>
                  <a:pt x="2299586" y="2897424"/>
                  <a:pt x="2511973" y="2890344"/>
                </a:cubicBezTo>
                <a:cubicBezTo>
                  <a:pt x="2517500" y="2889239"/>
                  <a:pt x="2596672" y="2874271"/>
                  <a:pt x="2606566" y="2869324"/>
                </a:cubicBezTo>
                <a:cubicBezTo>
                  <a:pt x="2629163" y="2858026"/>
                  <a:pt x="2644708" y="2831435"/>
                  <a:pt x="2669628" y="2827282"/>
                </a:cubicBezTo>
                <a:cubicBezTo>
                  <a:pt x="2794990" y="2806389"/>
                  <a:pt x="2711412" y="2817954"/>
                  <a:pt x="2921876" y="2806262"/>
                </a:cubicBezTo>
                <a:cubicBezTo>
                  <a:pt x="2935890" y="2795752"/>
                  <a:pt x="2952382" y="2787914"/>
                  <a:pt x="2963917" y="2774731"/>
                </a:cubicBezTo>
                <a:cubicBezTo>
                  <a:pt x="3002285" y="2730881"/>
                  <a:pt x="2988371" y="2731687"/>
                  <a:pt x="3005959" y="2690648"/>
                </a:cubicBezTo>
                <a:cubicBezTo>
                  <a:pt x="3046684" y="2595622"/>
                  <a:pt x="3010667" y="2713857"/>
                  <a:pt x="3048000" y="2564524"/>
                </a:cubicBezTo>
                <a:cubicBezTo>
                  <a:pt x="3051503" y="2550510"/>
                  <a:pt x="3053942" y="2536186"/>
                  <a:pt x="3058510" y="2522482"/>
                </a:cubicBezTo>
                <a:cubicBezTo>
                  <a:pt x="3065517" y="2501461"/>
                  <a:pt x="3074157" y="2480916"/>
                  <a:pt x="3079531" y="2459420"/>
                </a:cubicBezTo>
                <a:cubicBezTo>
                  <a:pt x="3083035" y="2445406"/>
                  <a:pt x="3078762" y="2426403"/>
                  <a:pt x="3090042" y="2417379"/>
                </a:cubicBezTo>
                <a:cubicBezTo>
                  <a:pt x="3116986" y="2395824"/>
                  <a:pt x="3154401" y="2391966"/>
                  <a:pt x="3184635" y="2375337"/>
                </a:cubicBezTo>
                <a:cubicBezTo>
                  <a:pt x="3217462" y="2357282"/>
                  <a:pt x="3288081" y="2309876"/>
                  <a:pt x="3331779" y="2280744"/>
                </a:cubicBezTo>
                <a:cubicBezTo>
                  <a:pt x="3342289" y="2273737"/>
                  <a:pt x="3354378" y="2268656"/>
                  <a:pt x="3363310" y="2259724"/>
                </a:cubicBezTo>
                <a:cubicBezTo>
                  <a:pt x="3386558" y="2236477"/>
                  <a:pt x="3401228" y="2225931"/>
                  <a:pt x="3415862" y="2196662"/>
                </a:cubicBezTo>
                <a:cubicBezTo>
                  <a:pt x="3420817" y="2186753"/>
                  <a:pt x="3421418" y="2175040"/>
                  <a:pt x="3426373" y="2165131"/>
                </a:cubicBezTo>
                <a:cubicBezTo>
                  <a:pt x="3435509" y="2146859"/>
                  <a:pt x="3448768" y="2130851"/>
                  <a:pt x="3457904" y="2112579"/>
                </a:cubicBezTo>
                <a:cubicBezTo>
                  <a:pt x="3462859" y="2102670"/>
                  <a:pt x="3459019" y="2086920"/>
                  <a:pt x="3468414" y="2081048"/>
                </a:cubicBezTo>
                <a:cubicBezTo>
                  <a:pt x="3490042" y="2067530"/>
                  <a:pt x="3517462" y="2067034"/>
                  <a:pt x="3541986" y="2060027"/>
                </a:cubicBezTo>
                <a:cubicBezTo>
                  <a:pt x="3566344" y="2041759"/>
                  <a:pt x="3596737" y="2022061"/>
                  <a:pt x="3615559" y="1996965"/>
                </a:cubicBezTo>
                <a:cubicBezTo>
                  <a:pt x="3627816" y="1980622"/>
                  <a:pt x="3636580" y="1961930"/>
                  <a:pt x="3647090" y="1944413"/>
                </a:cubicBezTo>
                <a:cubicBezTo>
                  <a:pt x="3653907" y="1896692"/>
                  <a:pt x="3668300" y="1844990"/>
                  <a:pt x="3647090" y="1797269"/>
                </a:cubicBezTo>
                <a:cubicBezTo>
                  <a:pt x="3628538" y="1755527"/>
                  <a:pt x="3573517" y="1681655"/>
                  <a:pt x="3573517" y="1681655"/>
                </a:cubicBezTo>
                <a:cubicBezTo>
                  <a:pt x="3566510" y="1513489"/>
                  <a:pt x="3565164" y="1344992"/>
                  <a:pt x="3552497" y="1177158"/>
                </a:cubicBezTo>
                <a:cubicBezTo>
                  <a:pt x="3551077" y="1158345"/>
                  <a:pt x="3539320" y="1141765"/>
                  <a:pt x="3531476" y="1124606"/>
                </a:cubicBezTo>
                <a:cubicBezTo>
                  <a:pt x="3483254" y="1019121"/>
                  <a:pt x="3434932" y="913661"/>
                  <a:pt x="3384331" y="809296"/>
                </a:cubicBezTo>
                <a:cubicBezTo>
                  <a:pt x="3359413" y="757903"/>
                  <a:pt x="3357785" y="793229"/>
                  <a:pt x="3331779" y="725213"/>
                </a:cubicBezTo>
                <a:cubicBezTo>
                  <a:pt x="3293397" y="624830"/>
                  <a:pt x="3254367" y="524255"/>
                  <a:pt x="3226676" y="420413"/>
                </a:cubicBezTo>
                <a:cubicBezTo>
                  <a:pt x="3212662" y="367861"/>
                  <a:pt x="3201834" y="314355"/>
                  <a:pt x="3184635" y="262758"/>
                </a:cubicBezTo>
                <a:cubicBezTo>
                  <a:pt x="3180111" y="249186"/>
                  <a:pt x="3143432" y="204475"/>
                  <a:pt x="3132083" y="199696"/>
                </a:cubicBezTo>
                <a:cubicBezTo>
                  <a:pt x="3077957" y="176906"/>
                  <a:pt x="3021203" y="160080"/>
                  <a:pt x="2963917" y="147144"/>
                </a:cubicBezTo>
                <a:cubicBezTo>
                  <a:pt x="2912202" y="135467"/>
                  <a:pt x="2858814" y="133131"/>
                  <a:pt x="2806262" y="126124"/>
                </a:cubicBezTo>
                <a:cubicBezTo>
                  <a:pt x="2711669" y="140138"/>
                  <a:pt x="2615776" y="147174"/>
                  <a:pt x="2522483" y="168165"/>
                </a:cubicBezTo>
                <a:cubicBezTo>
                  <a:pt x="2474876" y="178877"/>
                  <a:pt x="2385848" y="220717"/>
                  <a:pt x="2385848" y="220717"/>
                </a:cubicBezTo>
                <a:cubicBezTo>
                  <a:pt x="2289429" y="196611"/>
                  <a:pt x="2328864" y="209700"/>
                  <a:pt x="2175642" y="126124"/>
                </a:cubicBezTo>
                <a:cubicBezTo>
                  <a:pt x="2052999" y="59228"/>
                  <a:pt x="2042227" y="51193"/>
                  <a:pt x="1965435" y="0"/>
                </a:cubicBezTo>
                <a:cubicBezTo>
                  <a:pt x="1916387" y="21021"/>
                  <a:pt x="1865561" y="38301"/>
                  <a:pt x="1818290" y="63062"/>
                </a:cubicBezTo>
                <a:cubicBezTo>
                  <a:pt x="1791593" y="77046"/>
                  <a:pt x="1771673" y="102135"/>
                  <a:pt x="1744717" y="115613"/>
                </a:cubicBezTo>
                <a:cubicBezTo>
                  <a:pt x="1739378" y="118283"/>
                  <a:pt x="1649379" y="143089"/>
                  <a:pt x="1629104" y="147144"/>
                </a:cubicBezTo>
                <a:cubicBezTo>
                  <a:pt x="1573179" y="158329"/>
                  <a:pt x="1460938" y="178675"/>
                  <a:pt x="1460938" y="178675"/>
                </a:cubicBezTo>
                <a:cubicBezTo>
                  <a:pt x="1305891" y="139914"/>
                  <a:pt x="1382361" y="155009"/>
                  <a:pt x="1051035" y="178675"/>
                </a:cubicBezTo>
                <a:cubicBezTo>
                  <a:pt x="1025594" y="180492"/>
                  <a:pt x="1001986" y="192689"/>
                  <a:pt x="977462" y="199696"/>
                </a:cubicBezTo>
                <a:cubicBezTo>
                  <a:pt x="939413" y="225063"/>
                  <a:pt x="957229" y="215068"/>
                  <a:pt x="924910" y="231227"/>
                </a:cubicBezTo>
              </a:path>
            </a:pathLst>
          </a:cu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83866232"/>
      </p:ext>
    </p:extLst>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fill="hold" nodeType="afterEffect" p14:presetBounceEnd="50000">
                                      <p:stCondLst>
                                        <p:cond delay="0"/>
                                      </p:stCondLst>
                                      <p:childTnLst>
                                        <p:animMotion origin="layout" path="M -0.14688 -0.0007 L 0.80755 -0.0007 " pathEditMode="relative" rAng="0" ptsTypes="AA" p14:bounceEnd="50000">
                                          <p:cBhvr>
                                            <p:cTn id="6" dur="5000" fill="hold"/>
                                            <p:tgtEl>
                                              <p:spTgt spid="18"/>
                                            </p:tgtEl>
                                            <p:attrNameLst>
                                              <p:attrName>ppt_x</p:attrName>
                                              <p:attrName>ppt_y</p:attrName>
                                            </p:attrNameLst>
                                          </p:cBhvr>
                                          <p:rCtr x="47721" y="0"/>
                                        </p:animMotion>
                                      </p:childTnLst>
                                      <p:subTnLst>
                                        <p:audio>
                                          <p:cMediaNode>
                                            <p:cTn display="0" masterRel="sameClick">
                                              <p:stCondLst>
                                                <p:cond evt="begin" delay="0">
                                                  <p:tn val="5"/>
                                                </p:cond>
                                              </p:stCondLst>
                                              <p:endCondLst>
                                                <p:cond evt="onStopAudio" delay="0">
                                                  <p:tgtEl>
                                                    <p:sldTgt/>
                                                  </p:tgtEl>
                                                </p:cond>
                                              </p:endCondLst>
                                            </p:cTn>
                                            <p:tgtEl>
                                              <p:sndTgt r:embed="rId2" name="push.wav"/>
                                            </p:tgtEl>
                                          </p:cMediaNode>
                                        </p:audio>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1"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500"/>
                                            <p:tgtEl>
                                              <p:spTgt spid="26"/>
                                            </p:tgtEl>
                                          </p:cBhvr>
                                        </p:animEffect>
                                      </p:childTnLst>
                                    </p:cTn>
                                  </p:par>
                                </p:childTnLst>
                              </p:cTn>
                            </p:par>
                            <p:par>
                              <p:cTn id="16" fill="hold">
                                <p:stCondLst>
                                  <p:cond delay="500"/>
                                </p:stCondLst>
                                <p:childTnLst>
                                  <p:par>
                                    <p:cTn id="17" presetID="8" presetClass="emph" presetSubtype="0" fill="hold" grpId="0" nodeType="afterEffect">
                                      <p:stCondLst>
                                        <p:cond delay="0"/>
                                      </p:stCondLst>
                                      <p:childTnLst>
                                        <p:animRot by="21600000">
                                          <p:cBhvr>
                                            <p:cTn id="18" dur="2000" fill="hold"/>
                                            <p:tgtEl>
                                              <p:spTgt spid="2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6" grpId="1" animBg="1"/>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fill="hold" nodeType="afterEffect">
                                      <p:stCondLst>
                                        <p:cond delay="0"/>
                                      </p:stCondLst>
                                      <p:childTnLst>
                                        <p:animMotion origin="layout" path="M -0.14688 -0.0007 L 0.80755 -0.0007 " pathEditMode="relative" rAng="0" ptsTypes="AA">
                                          <p:cBhvr>
                                            <p:cTn id="6" dur="5000" fill="hold"/>
                                            <p:tgtEl>
                                              <p:spTgt spid="18"/>
                                            </p:tgtEl>
                                            <p:attrNameLst>
                                              <p:attrName>ppt_x</p:attrName>
                                              <p:attrName>ppt_y</p:attrName>
                                            </p:attrNameLst>
                                          </p:cBhvr>
                                          <p:rCtr x="47721" y="0"/>
                                        </p:animMotion>
                                      </p:childTnLst>
                                      <p:subTnLst>
                                        <p:audio>
                                          <p:cMediaNode>
                                            <p:cTn display="0" masterRel="sameClick">
                                              <p:stCondLst>
                                                <p:cond evt="begin" delay="0">
                                                  <p:tn val="5"/>
                                                </p:cond>
                                              </p:stCondLst>
                                              <p:endCondLst>
                                                <p:cond evt="onStopAudio" delay="0">
                                                  <p:tgtEl>
                                                    <p:sldTgt/>
                                                  </p:tgtEl>
                                                </p:cond>
                                              </p:endCondLst>
                                            </p:cTn>
                                            <p:tgtEl>
                                              <p:sndTgt r:embed="rId2" name="push.wav"/>
                                            </p:tgtEl>
                                          </p:cMediaNode>
                                        </p:audio>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1"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500"/>
                                            <p:tgtEl>
                                              <p:spTgt spid="26"/>
                                            </p:tgtEl>
                                          </p:cBhvr>
                                        </p:animEffect>
                                      </p:childTnLst>
                                    </p:cTn>
                                  </p:par>
                                </p:childTnLst>
                              </p:cTn>
                            </p:par>
                            <p:par>
                              <p:cTn id="16" fill="hold">
                                <p:stCondLst>
                                  <p:cond delay="500"/>
                                </p:stCondLst>
                                <p:childTnLst>
                                  <p:par>
                                    <p:cTn id="17" presetID="8" presetClass="emph" presetSubtype="0" fill="hold" grpId="0" nodeType="afterEffect">
                                      <p:stCondLst>
                                        <p:cond delay="0"/>
                                      </p:stCondLst>
                                      <p:childTnLst>
                                        <p:animRot by="21600000">
                                          <p:cBhvr>
                                            <p:cTn id="18" dur="2000" fill="hold"/>
                                            <p:tgtEl>
                                              <p:spTgt spid="2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6" grpId="1" animBg="1"/>
        </p:bldLst>
      </p:timing>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6834" y="1153572"/>
            <a:ext cx="3200400" cy="4461163"/>
          </a:xfrm>
        </p:spPr>
        <p:txBody>
          <a:bodyPr>
            <a:normAutofit/>
          </a:bodyPr>
          <a:lstStyle/>
          <a:p>
            <a:r>
              <a:rPr lang="en-US" b="1" dirty="0">
                <a:solidFill>
                  <a:srgbClr val="FFFFFF"/>
                </a:solidFill>
              </a:rPr>
              <a:t>Installing Uber</a:t>
            </a:r>
          </a:p>
        </p:txBody>
      </p:sp>
      <p:sp>
        <p:nvSpPr>
          <p:cNvPr id="13" name="Arc 1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type="body" idx="1"/>
          </p:nvPr>
        </p:nvSpPr>
        <p:spPr>
          <a:xfrm>
            <a:off x="4447308" y="591344"/>
            <a:ext cx="6906491" cy="5585619"/>
          </a:xfrm>
        </p:spPr>
        <p:txBody>
          <a:bodyPr anchor="ctr">
            <a:normAutofit/>
          </a:bodyPr>
          <a:lstStyle/>
          <a:p>
            <a:r>
              <a:rPr lang="en-US" dirty="0"/>
              <a:t>Laptop or tablet: </a:t>
            </a:r>
            <a:r>
              <a:rPr lang="en-US" dirty="0" err="1"/>
              <a:t>uber.com</a:t>
            </a:r>
            <a:endParaRPr lang="en-US" dirty="0"/>
          </a:p>
          <a:p>
            <a:r>
              <a:rPr lang="en-US" dirty="0"/>
              <a:t>iPhone:  App Store</a:t>
            </a:r>
          </a:p>
          <a:p>
            <a:r>
              <a:rPr lang="en-US" dirty="0"/>
              <a:t>Android or Jitterbug: Play Store</a:t>
            </a:r>
          </a:p>
          <a:p>
            <a:r>
              <a:rPr lang="en-US" dirty="0"/>
              <a:t>Create account with phone number or email address</a:t>
            </a:r>
          </a:p>
          <a:p>
            <a:r>
              <a:rPr lang="en-US" dirty="0"/>
              <a:t>Update Uber with a payment method</a:t>
            </a:r>
          </a:p>
          <a:p>
            <a:r>
              <a:rPr lang="en-US" dirty="0"/>
              <a:t>Make sure notifications are enabled for Uber</a:t>
            </a:r>
          </a:p>
        </p:txBody>
      </p:sp>
      <p:grpSp>
        <p:nvGrpSpPr>
          <p:cNvPr id="4" name="Group 3">
            <a:extLst>
              <a:ext uri="{FF2B5EF4-FFF2-40B4-BE49-F238E27FC236}">
                <a16:creationId xmlns:a16="http://schemas.microsoft.com/office/drawing/2014/main" id="{9ADD9E79-A6E8-52C7-CEA1-78E1ADA6576C}"/>
              </a:ext>
            </a:extLst>
          </p:cNvPr>
          <p:cNvGrpSpPr/>
          <p:nvPr/>
        </p:nvGrpSpPr>
        <p:grpSpPr>
          <a:xfrm>
            <a:off x="596611" y="5300126"/>
            <a:ext cx="2880408" cy="1082967"/>
            <a:chOff x="626301" y="4860099"/>
            <a:chExt cx="2880408" cy="1082967"/>
          </a:xfrm>
        </p:grpSpPr>
        <p:pic>
          <p:nvPicPr>
            <p:cNvPr id="5" name="Picture 2" descr="L.A. by the Slice: What Are We Thinking While Using Uber? - LAmag -  Culture, Food, Fashion, News &amp; Los Angeles">
              <a:extLst>
                <a:ext uri="{FF2B5EF4-FFF2-40B4-BE49-F238E27FC236}">
                  <a16:creationId xmlns:a16="http://schemas.microsoft.com/office/drawing/2014/main" id="{03C31417-B241-3D97-2F50-08B27BF8D788}"/>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9956" b="89934" l="4667" r="95583">
                          <a14:foregroundMark x1="17000" y1="35619" x2="11583" y2="36394"/>
                          <a14:foregroundMark x1="11583" y1="36394" x2="7997" y2="40952"/>
                          <a14:foregroundMark x1="6317" y1="51657" x2="5750" y2="55973"/>
                          <a14:foregroundMark x1="5750" y1="55973" x2="8667" y2="61726"/>
                          <a14:foregroundMark x1="8667" y1="61726" x2="13333" y2="58407"/>
                          <a14:foregroundMark x1="13333" y1="58407" x2="13417" y2="38717"/>
                          <a14:foregroundMark x1="4667" y1="53872" x2="4750" y2="66814"/>
                          <a14:foregroundMark x1="88583" y1="47677" x2="92917" y2="52544"/>
                          <a14:foregroundMark x1="92917" y1="52544" x2="94667" y2="59513"/>
                          <a14:foregroundMark x1="94667" y1="59513" x2="91083" y2="64712"/>
                          <a14:foregroundMark x1="91083" y1="64712" x2="88583" y2="48230"/>
                          <a14:foregroundMark x1="94083" y1="55752" x2="95583" y2="62721"/>
                          <a14:foregroundMark x1="95583" y1="62721" x2="94500" y2="58407"/>
                          <a14:backgroundMark x1="6167" y1="41150" x2="6583" y2="48009"/>
                          <a14:backgroundMark x1="6583" y1="48009" x2="5333" y2="50996"/>
                          <a14:backgroundMark x1="8250" y1="41593" x2="6833" y2="40929"/>
                          <a14:backgroundMark x1="7500" y1="41261" x2="7500" y2="41261"/>
                          <a14:backgroundMark x1="7500" y1="40929" x2="7500" y2="40929"/>
                          <a14:backgroundMark x1="7833" y1="41150" x2="6417" y2="41593"/>
                          <a14:backgroundMark x1="5917" y1="52102" x2="5750" y2="50000"/>
                        </a14:backgroundRemoval>
                      </a14:imgEffect>
                    </a14:imgLayer>
                  </a14:imgProps>
                </a:ext>
                <a:ext uri="{28A0092B-C50C-407E-A947-70E740481C1C}">
                  <a14:useLocalDpi xmlns:a14="http://schemas.microsoft.com/office/drawing/2010/main" val="0"/>
                </a:ext>
              </a:extLst>
            </a:blip>
            <a:srcRect l="3414" t="27367" r="2479" b="25662"/>
            <a:stretch/>
          </p:blipFill>
          <p:spPr bwMode="auto">
            <a:xfrm>
              <a:off x="626301" y="4860099"/>
              <a:ext cx="2880408" cy="108296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Uber - Request a ride on the App Store">
              <a:extLst>
                <a:ext uri="{FF2B5EF4-FFF2-40B4-BE49-F238E27FC236}">
                  <a16:creationId xmlns:a16="http://schemas.microsoft.com/office/drawing/2014/main" id="{F19CC69B-0757-AD45-4F49-4A8BD120E34D}"/>
                </a:ext>
              </a:extLst>
            </p:cNvPr>
            <p:cNvPicPr>
              <a:picLocks noChangeAspect="1" noChangeArrowheads="1"/>
            </p:cNvPicPr>
            <p:nvPr/>
          </p:nvPicPr>
          <p:blipFill rotWithShape="1">
            <a:blip r:embed="rId5">
              <a:extLst>
                <a:ext uri="{BEBA8EAE-BF5A-486C-A8C5-ECC9F3942E4B}">
                  <a14:imgProps xmlns:a14="http://schemas.microsoft.com/office/drawing/2010/main">
                    <a14:imgLayer r:embed="rId6">
                      <a14:imgEffect>
                        <a14:backgroundRemoval t="10000" b="90000" l="10000" r="90000">
                          <a14:foregroundMark x1="60645" y1="39877" x2="35806" y2="39877"/>
                          <a14:foregroundMark x1="35806" y1="39877" x2="40645" y2="63190"/>
                          <a14:foregroundMark x1="40645" y1="63190" x2="52581" y2="68098"/>
                          <a14:foregroundMark x1="52581" y1="68098" x2="63548" y2="56442"/>
                          <a14:foregroundMark x1="63548" y1="56442" x2="60645" y2="43558"/>
                          <a14:foregroundMark x1="41613" y1="43558" x2="41613" y2="49693"/>
                          <a14:foregroundMark x1="44194" y1="43558" x2="44194" y2="54601"/>
                          <a14:foregroundMark x1="50000" y1="51534" x2="50000" y2="57669"/>
                          <a14:foregroundMark x1="38710" y1="60123" x2="36452" y2="60736"/>
                          <a14:foregroundMark x1="34839" y1="47239" x2="35161" y2="53374"/>
                          <a14:foregroundMark x1="45806" y1="47239" x2="51613" y2="51534"/>
                          <a14:foregroundMark x1="55484" y1="53374" x2="57742" y2="53988"/>
                          <a14:foregroundMark x1="57742" y1="50920" x2="56452" y2="47239"/>
                          <a14:foregroundMark x1="54839" y1="48466" x2="51935" y2="52147"/>
                          <a14:foregroundMark x1="53871" y1="55828" x2="57419" y2="58896"/>
                        </a14:backgroundRemoval>
                      </a14:imgEffect>
                    </a14:imgLayer>
                  </a14:imgProps>
                </a:ext>
                <a:ext uri="{28A0092B-C50C-407E-A947-70E740481C1C}">
                  <a14:useLocalDpi xmlns:a14="http://schemas.microsoft.com/office/drawing/2010/main" val="0"/>
                </a:ext>
              </a:extLst>
            </a:blip>
            <a:srcRect l="31652" t="15969" r="31123" b="15050"/>
            <a:stretch/>
          </p:blipFill>
          <p:spPr bwMode="auto">
            <a:xfrm>
              <a:off x="1858104" y="5327284"/>
              <a:ext cx="416801" cy="406114"/>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745848933"/>
      </p:ext>
    </p:extLst>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fill="hold" nodeType="afterEffect" p14:presetBounceEnd="50000">
                                      <p:stCondLst>
                                        <p:cond delay="0"/>
                                      </p:stCondLst>
                                      <p:childTnLst>
                                        <p:animMotion origin="layout" path="M -0.14688 -0.00069 L 0.80755 -0.00069 " pathEditMode="relative" rAng="0" ptsTypes="AA" p14:bounceEnd="50000">
                                          <p:cBhvr>
                                            <p:cTn id="6" dur="5000" fill="hold"/>
                                            <p:tgtEl>
                                              <p:spTgt spid="4"/>
                                            </p:tgtEl>
                                            <p:attrNameLst>
                                              <p:attrName>ppt_x</p:attrName>
                                              <p:attrName>ppt_y</p:attrName>
                                            </p:attrNameLst>
                                          </p:cBhvr>
                                          <p:rCtr x="47721" y="0"/>
                                        </p:animMotion>
                                      </p:childTnLst>
                                      <p:subTnLst>
                                        <p:audio>
                                          <p:cMediaNode>
                                            <p:cTn display="0" masterRel="sameClick">
                                              <p:stCondLst>
                                                <p:cond evt="begin" delay="0">
                                                  <p:tn val="5"/>
                                                </p:cond>
                                              </p:stCondLst>
                                              <p:endCondLst>
                                                <p:cond evt="onStopAudio" delay="0">
                                                  <p:tgtEl>
                                                    <p:sldTgt/>
                                                  </p:tgtEl>
                                                </p:cond>
                                              </p:endCondLst>
                                            </p:cTn>
                                            <p:tgtEl>
                                              <p:sndTgt r:embed="rId2" name="pu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fill="hold" nodeType="afterEffect">
                                      <p:stCondLst>
                                        <p:cond delay="0"/>
                                      </p:stCondLst>
                                      <p:childTnLst>
                                        <p:animMotion origin="layout" path="M -0.14688 -0.00069 L 0.80755 -0.00069 " pathEditMode="relative" rAng="0" ptsTypes="AA">
                                          <p:cBhvr>
                                            <p:cTn id="6" dur="5000" fill="hold"/>
                                            <p:tgtEl>
                                              <p:spTgt spid="4"/>
                                            </p:tgtEl>
                                            <p:attrNameLst>
                                              <p:attrName>ppt_x</p:attrName>
                                              <p:attrName>ppt_y</p:attrName>
                                            </p:attrNameLst>
                                          </p:cBhvr>
                                          <p:rCtr x="47721" y="0"/>
                                        </p:animMotion>
                                      </p:childTnLst>
                                      <p:subTnLst>
                                        <p:audio>
                                          <p:cMediaNode>
                                            <p:cTn display="0" masterRel="sameClick">
                                              <p:stCondLst>
                                                <p:cond evt="begin" delay="0">
                                                  <p:tn val="5"/>
                                                </p:cond>
                                              </p:stCondLst>
                                              <p:endCondLst>
                                                <p:cond evt="onStopAudio" delay="0">
                                                  <p:tgtEl>
                                                    <p:sldTgt/>
                                                  </p:tgtEl>
                                                </p:cond>
                                              </p:endCondLst>
                                            </p:cTn>
                                            <p:tgtEl>
                                              <p:sndTgt r:embed="rId2" name="pu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B76E6-8E55-4532-B4C9-362459A30A05}"/>
              </a:ext>
            </a:extLst>
          </p:cNvPr>
          <p:cNvSpPr>
            <a:spLocks noGrp="1"/>
          </p:cNvSpPr>
          <p:nvPr>
            <p:ph type="title"/>
          </p:nvPr>
        </p:nvSpPr>
        <p:spPr/>
        <p:txBody>
          <a:bodyPr/>
          <a:lstStyle/>
          <a:p>
            <a:r>
              <a:rPr lang="en-US" b="1" dirty="0">
                <a:latin typeface="Helvetica Neue Light" panose="020B0702040204020203" pitchFamily="34" charset="0"/>
                <a:ea typeface="Helvetica Neue Light" panose="020B0702040204020203" pitchFamily="34" charset="0"/>
                <a:cs typeface="Helvetica Neue" panose="020B0502040204020203" pitchFamily="34" charset="0"/>
              </a:rPr>
              <a:t>Booking a ride</a:t>
            </a:r>
          </a:p>
        </p:txBody>
      </p:sp>
      <p:pic>
        <p:nvPicPr>
          <p:cNvPr id="5" name="Picture 4" descr="A screenshot of a phone&#10;&#10;Description automatically generated">
            <a:extLst>
              <a:ext uri="{FF2B5EF4-FFF2-40B4-BE49-F238E27FC236}">
                <a16:creationId xmlns:a16="http://schemas.microsoft.com/office/drawing/2014/main" id="{AD49596E-A6A3-B52B-E5BD-2630AA0D60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4323" y="1508290"/>
            <a:ext cx="2766563" cy="4887256"/>
          </a:xfrm>
          <a:prstGeom prst="rect">
            <a:avLst/>
          </a:prstGeom>
          <a:ln w="12700">
            <a:noFill/>
          </a:ln>
        </p:spPr>
      </p:pic>
      <p:grpSp>
        <p:nvGrpSpPr>
          <p:cNvPr id="20" name="Group 19">
            <a:extLst>
              <a:ext uri="{FF2B5EF4-FFF2-40B4-BE49-F238E27FC236}">
                <a16:creationId xmlns:a16="http://schemas.microsoft.com/office/drawing/2014/main" id="{16F39AD5-445C-419D-24BB-17D72CAB543D}"/>
              </a:ext>
            </a:extLst>
          </p:cNvPr>
          <p:cNvGrpSpPr/>
          <p:nvPr/>
        </p:nvGrpSpPr>
        <p:grpSpPr>
          <a:xfrm>
            <a:off x="8050290" y="1454083"/>
            <a:ext cx="3760715" cy="5234234"/>
            <a:chOff x="8050290" y="1454083"/>
            <a:chExt cx="3760715" cy="5234234"/>
          </a:xfrm>
        </p:grpSpPr>
        <p:pic>
          <p:nvPicPr>
            <p:cNvPr id="9" name="Picture 8" descr="A screenshot of a phone&#10;&#10;Description automatically generated">
              <a:extLst>
                <a:ext uri="{FF2B5EF4-FFF2-40B4-BE49-F238E27FC236}">
                  <a16:creationId xmlns:a16="http://schemas.microsoft.com/office/drawing/2014/main" id="{4AD02206-8D30-E6B1-6EDD-62EBB9CB911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88197" y="1510644"/>
              <a:ext cx="3599479" cy="4138367"/>
            </a:xfrm>
            <a:prstGeom prst="rect">
              <a:avLst/>
            </a:prstGeom>
            <a:ln w="12700">
              <a:noFill/>
            </a:ln>
          </p:spPr>
        </p:pic>
        <p:sp>
          <p:nvSpPr>
            <p:cNvPr id="11" name="Frame 10">
              <a:extLst>
                <a:ext uri="{FF2B5EF4-FFF2-40B4-BE49-F238E27FC236}">
                  <a16:creationId xmlns:a16="http://schemas.microsoft.com/office/drawing/2014/main" id="{E9B213FB-28CC-8467-C60C-C807C902FAFE}"/>
                </a:ext>
              </a:extLst>
            </p:cNvPr>
            <p:cNvSpPr/>
            <p:nvPr/>
          </p:nvSpPr>
          <p:spPr>
            <a:xfrm>
              <a:off x="8050290" y="1454083"/>
              <a:ext cx="3760715" cy="5234234"/>
            </a:xfrm>
            <a:prstGeom prst="frame">
              <a:avLst>
                <a:gd name="adj1" fmla="val 168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19" name="Group 18">
            <a:extLst>
              <a:ext uri="{FF2B5EF4-FFF2-40B4-BE49-F238E27FC236}">
                <a16:creationId xmlns:a16="http://schemas.microsoft.com/office/drawing/2014/main" id="{228F3ED8-87C9-5D7A-C96F-1C2385EE55E8}"/>
              </a:ext>
            </a:extLst>
          </p:cNvPr>
          <p:cNvGrpSpPr/>
          <p:nvPr/>
        </p:nvGrpSpPr>
        <p:grpSpPr>
          <a:xfrm>
            <a:off x="3921551" y="1454083"/>
            <a:ext cx="3613194" cy="5234234"/>
            <a:chOff x="3921551" y="1454083"/>
            <a:chExt cx="3613194" cy="5234234"/>
          </a:xfrm>
        </p:grpSpPr>
        <p:pic>
          <p:nvPicPr>
            <p:cNvPr id="7" name="Picture 6" descr="A screenshot of a phone&#10;&#10;Description automatically generated">
              <a:extLst>
                <a:ext uri="{FF2B5EF4-FFF2-40B4-BE49-F238E27FC236}">
                  <a16:creationId xmlns:a16="http://schemas.microsoft.com/office/drawing/2014/main" id="{9E47DF90-B2EB-09BB-C59C-864F360941C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01633" y="1508290"/>
              <a:ext cx="3462212" cy="4628560"/>
            </a:xfrm>
            <a:prstGeom prst="rect">
              <a:avLst/>
            </a:prstGeom>
            <a:ln w="12700">
              <a:noFill/>
            </a:ln>
          </p:spPr>
        </p:pic>
        <p:sp>
          <p:nvSpPr>
            <p:cNvPr id="12" name="Frame 11">
              <a:extLst>
                <a:ext uri="{FF2B5EF4-FFF2-40B4-BE49-F238E27FC236}">
                  <a16:creationId xmlns:a16="http://schemas.microsoft.com/office/drawing/2014/main" id="{8919982F-FA87-7D9F-9D7B-A6C09EB47D49}"/>
                </a:ext>
              </a:extLst>
            </p:cNvPr>
            <p:cNvSpPr/>
            <p:nvPr/>
          </p:nvSpPr>
          <p:spPr>
            <a:xfrm>
              <a:off x="3921551" y="1454083"/>
              <a:ext cx="3613194" cy="5234234"/>
            </a:xfrm>
            <a:prstGeom prst="frame">
              <a:avLst>
                <a:gd name="adj1" fmla="val 168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13" name="Frame 12">
            <a:extLst>
              <a:ext uri="{FF2B5EF4-FFF2-40B4-BE49-F238E27FC236}">
                <a16:creationId xmlns:a16="http://schemas.microsoft.com/office/drawing/2014/main" id="{BB312343-9B52-BC9D-781D-7DFE41C83582}"/>
              </a:ext>
            </a:extLst>
          </p:cNvPr>
          <p:cNvSpPr/>
          <p:nvPr/>
        </p:nvSpPr>
        <p:spPr>
          <a:xfrm>
            <a:off x="380995" y="1454083"/>
            <a:ext cx="3025011" cy="5234234"/>
          </a:xfrm>
          <a:prstGeom prst="frame">
            <a:avLst>
              <a:gd name="adj1" fmla="val 168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Right Arrow 13">
            <a:extLst>
              <a:ext uri="{FF2B5EF4-FFF2-40B4-BE49-F238E27FC236}">
                <a16:creationId xmlns:a16="http://schemas.microsoft.com/office/drawing/2014/main" id="{05401633-3026-D210-07F5-2F2B13EB5D05}"/>
              </a:ext>
            </a:extLst>
          </p:cNvPr>
          <p:cNvSpPr/>
          <p:nvPr/>
        </p:nvSpPr>
        <p:spPr>
          <a:xfrm>
            <a:off x="3461102" y="3822570"/>
            <a:ext cx="405353" cy="263950"/>
          </a:xfrm>
          <a:prstGeom prst="rightArrow">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ight Arrow 14">
            <a:extLst>
              <a:ext uri="{FF2B5EF4-FFF2-40B4-BE49-F238E27FC236}">
                <a16:creationId xmlns:a16="http://schemas.microsoft.com/office/drawing/2014/main" id="{ED6C5FF2-D090-4735-44B8-3B283DA1DA1A}"/>
              </a:ext>
            </a:extLst>
          </p:cNvPr>
          <p:cNvSpPr/>
          <p:nvPr/>
        </p:nvSpPr>
        <p:spPr>
          <a:xfrm>
            <a:off x="7589841" y="3822570"/>
            <a:ext cx="405353" cy="263950"/>
          </a:xfrm>
          <a:prstGeom prst="rightArrow">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C5EC4F4C-723E-A097-CBF8-694C6156476D}"/>
              </a:ext>
            </a:extLst>
          </p:cNvPr>
          <p:cNvSpPr/>
          <p:nvPr/>
        </p:nvSpPr>
        <p:spPr>
          <a:xfrm>
            <a:off x="257666" y="1912883"/>
            <a:ext cx="3294831" cy="672662"/>
          </a:xfrm>
          <a:prstGeom prst="ellipse">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17">
            <a:extLst>
              <a:ext uri="{FF2B5EF4-FFF2-40B4-BE49-F238E27FC236}">
                <a16:creationId xmlns:a16="http://schemas.microsoft.com/office/drawing/2014/main" id="{E23832DD-D9CA-25CD-6105-1EB4EB5F3298}"/>
              </a:ext>
            </a:extLst>
          </p:cNvPr>
          <p:cNvSpPr/>
          <p:nvPr/>
        </p:nvSpPr>
        <p:spPr>
          <a:xfrm>
            <a:off x="126124" y="3857297"/>
            <a:ext cx="3658221" cy="2908281"/>
          </a:xfrm>
          <a:custGeom>
            <a:avLst/>
            <a:gdLst>
              <a:gd name="connsiteX0" fmla="*/ 1019504 w 3658221"/>
              <a:gd name="connsiteY0" fmla="*/ 178675 h 2908281"/>
              <a:gd name="connsiteX1" fmla="*/ 935421 w 3658221"/>
              <a:gd name="connsiteY1" fmla="*/ 157655 h 2908281"/>
              <a:gd name="connsiteX2" fmla="*/ 777766 w 3658221"/>
              <a:gd name="connsiteY2" fmla="*/ 136634 h 2908281"/>
              <a:gd name="connsiteX3" fmla="*/ 693683 w 3658221"/>
              <a:gd name="connsiteY3" fmla="*/ 115613 h 2908281"/>
              <a:gd name="connsiteX4" fmla="*/ 609600 w 3658221"/>
              <a:gd name="connsiteY4" fmla="*/ 105103 h 2908281"/>
              <a:gd name="connsiteX5" fmla="*/ 557048 w 3658221"/>
              <a:gd name="connsiteY5" fmla="*/ 94593 h 2908281"/>
              <a:gd name="connsiteX6" fmla="*/ 462455 w 3658221"/>
              <a:gd name="connsiteY6" fmla="*/ 84082 h 2908281"/>
              <a:gd name="connsiteX7" fmla="*/ 231228 w 3658221"/>
              <a:gd name="connsiteY7" fmla="*/ 94593 h 2908281"/>
              <a:gd name="connsiteX8" fmla="*/ 168166 w 3658221"/>
              <a:gd name="connsiteY8" fmla="*/ 115613 h 2908281"/>
              <a:gd name="connsiteX9" fmla="*/ 147145 w 3658221"/>
              <a:gd name="connsiteY9" fmla="*/ 147144 h 2908281"/>
              <a:gd name="connsiteX10" fmla="*/ 147145 w 3658221"/>
              <a:gd name="connsiteY10" fmla="*/ 325820 h 2908281"/>
              <a:gd name="connsiteX11" fmla="*/ 136635 w 3658221"/>
              <a:gd name="connsiteY11" fmla="*/ 409903 h 2908281"/>
              <a:gd name="connsiteX12" fmla="*/ 105104 w 3658221"/>
              <a:gd name="connsiteY12" fmla="*/ 451944 h 2908281"/>
              <a:gd name="connsiteX13" fmla="*/ 73573 w 3658221"/>
              <a:gd name="connsiteY13" fmla="*/ 515006 h 2908281"/>
              <a:gd name="connsiteX14" fmla="*/ 42042 w 3658221"/>
              <a:gd name="connsiteY14" fmla="*/ 557048 h 2908281"/>
              <a:gd name="connsiteX15" fmla="*/ 21021 w 3658221"/>
              <a:gd name="connsiteY15" fmla="*/ 599089 h 2908281"/>
              <a:gd name="connsiteX16" fmla="*/ 10510 w 3658221"/>
              <a:gd name="connsiteY16" fmla="*/ 641131 h 2908281"/>
              <a:gd name="connsiteX17" fmla="*/ 0 w 3658221"/>
              <a:gd name="connsiteY17" fmla="*/ 672662 h 2908281"/>
              <a:gd name="connsiteX18" fmla="*/ 31531 w 3658221"/>
              <a:gd name="connsiteY18" fmla="*/ 830317 h 2908281"/>
              <a:gd name="connsiteX19" fmla="*/ 52552 w 3658221"/>
              <a:gd name="connsiteY19" fmla="*/ 861848 h 2908281"/>
              <a:gd name="connsiteX20" fmla="*/ 63062 w 3658221"/>
              <a:gd name="connsiteY20" fmla="*/ 1303282 h 2908281"/>
              <a:gd name="connsiteX21" fmla="*/ 84083 w 3658221"/>
              <a:gd name="connsiteY21" fmla="*/ 1376855 h 2908281"/>
              <a:gd name="connsiteX22" fmla="*/ 126124 w 3658221"/>
              <a:gd name="connsiteY22" fmla="*/ 1439917 h 2908281"/>
              <a:gd name="connsiteX23" fmla="*/ 147145 w 3658221"/>
              <a:gd name="connsiteY23" fmla="*/ 1471448 h 2908281"/>
              <a:gd name="connsiteX24" fmla="*/ 178676 w 3658221"/>
              <a:gd name="connsiteY24" fmla="*/ 1502979 h 2908281"/>
              <a:gd name="connsiteX25" fmla="*/ 157655 w 3658221"/>
              <a:gd name="connsiteY25" fmla="*/ 1555531 h 2908281"/>
              <a:gd name="connsiteX26" fmla="*/ 147145 w 3658221"/>
              <a:gd name="connsiteY26" fmla="*/ 1587062 h 2908281"/>
              <a:gd name="connsiteX27" fmla="*/ 94593 w 3658221"/>
              <a:gd name="connsiteY27" fmla="*/ 1671144 h 2908281"/>
              <a:gd name="connsiteX28" fmla="*/ 73573 w 3658221"/>
              <a:gd name="connsiteY28" fmla="*/ 1734206 h 2908281"/>
              <a:gd name="connsiteX29" fmla="*/ 63062 w 3658221"/>
              <a:gd name="connsiteY29" fmla="*/ 1765737 h 2908281"/>
              <a:gd name="connsiteX30" fmla="*/ 31531 w 3658221"/>
              <a:gd name="connsiteY30" fmla="*/ 1807779 h 2908281"/>
              <a:gd name="connsiteX31" fmla="*/ 21021 w 3658221"/>
              <a:gd name="connsiteY31" fmla="*/ 1849820 h 2908281"/>
              <a:gd name="connsiteX32" fmla="*/ 10510 w 3658221"/>
              <a:gd name="connsiteY32" fmla="*/ 1881351 h 2908281"/>
              <a:gd name="connsiteX33" fmla="*/ 94593 w 3658221"/>
              <a:gd name="connsiteY33" fmla="*/ 2049517 h 2908281"/>
              <a:gd name="connsiteX34" fmla="*/ 189186 w 3658221"/>
              <a:gd name="connsiteY34" fmla="*/ 2175641 h 2908281"/>
              <a:gd name="connsiteX35" fmla="*/ 262759 w 3658221"/>
              <a:gd name="connsiteY35" fmla="*/ 2228193 h 2908281"/>
              <a:gd name="connsiteX36" fmla="*/ 325821 w 3658221"/>
              <a:gd name="connsiteY36" fmla="*/ 2270234 h 2908281"/>
              <a:gd name="connsiteX37" fmla="*/ 357352 w 3658221"/>
              <a:gd name="connsiteY37" fmla="*/ 2375337 h 2908281"/>
              <a:gd name="connsiteX38" fmla="*/ 388883 w 3658221"/>
              <a:gd name="connsiteY38" fmla="*/ 2459420 h 2908281"/>
              <a:gd name="connsiteX39" fmla="*/ 420414 w 3658221"/>
              <a:gd name="connsiteY39" fmla="*/ 2501462 h 2908281"/>
              <a:gd name="connsiteX40" fmla="*/ 546538 w 3658221"/>
              <a:gd name="connsiteY40" fmla="*/ 2606565 h 2908281"/>
              <a:gd name="connsiteX41" fmla="*/ 620110 w 3658221"/>
              <a:gd name="connsiteY41" fmla="*/ 2638096 h 2908281"/>
              <a:gd name="connsiteX42" fmla="*/ 693683 w 3658221"/>
              <a:gd name="connsiteY42" fmla="*/ 2648606 h 2908281"/>
              <a:gd name="connsiteX43" fmla="*/ 735724 w 3658221"/>
              <a:gd name="connsiteY43" fmla="*/ 2659117 h 2908281"/>
              <a:gd name="connsiteX44" fmla="*/ 767255 w 3658221"/>
              <a:gd name="connsiteY44" fmla="*/ 2669627 h 2908281"/>
              <a:gd name="connsiteX45" fmla="*/ 851338 w 3658221"/>
              <a:gd name="connsiteY45" fmla="*/ 2680137 h 2908281"/>
              <a:gd name="connsiteX46" fmla="*/ 1240221 w 3658221"/>
              <a:gd name="connsiteY46" fmla="*/ 2659117 h 2908281"/>
              <a:gd name="connsiteX47" fmla="*/ 1271752 w 3658221"/>
              <a:gd name="connsiteY47" fmla="*/ 2648606 h 2908281"/>
              <a:gd name="connsiteX48" fmla="*/ 1376855 w 3658221"/>
              <a:gd name="connsiteY48" fmla="*/ 2617075 h 2908281"/>
              <a:gd name="connsiteX49" fmla="*/ 1408386 w 3658221"/>
              <a:gd name="connsiteY49" fmla="*/ 2606565 h 2908281"/>
              <a:gd name="connsiteX50" fmla="*/ 1439917 w 3658221"/>
              <a:gd name="connsiteY50" fmla="*/ 2585544 h 2908281"/>
              <a:gd name="connsiteX51" fmla="*/ 1481959 w 3658221"/>
              <a:gd name="connsiteY51" fmla="*/ 2617075 h 2908281"/>
              <a:gd name="connsiteX52" fmla="*/ 1608083 w 3658221"/>
              <a:gd name="connsiteY52" fmla="*/ 2711669 h 2908281"/>
              <a:gd name="connsiteX53" fmla="*/ 1797269 w 3658221"/>
              <a:gd name="connsiteY53" fmla="*/ 2795751 h 2908281"/>
              <a:gd name="connsiteX54" fmla="*/ 1881352 w 3658221"/>
              <a:gd name="connsiteY54" fmla="*/ 2816772 h 2908281"/>
              <a:gd name="connsiteX55" fmla="*/ 1975945 w 3658221"/>
              <a:gd name="connsiteY55" fmla="*/ 2848303 h 2908281"/>
              <a:gd name="connsiteX56" fmla="*/ 2049517 w 3658221"/>
              <a:gd name="connsiteY56" fmla="*/ 2869324 h 2908281"/>
              <a:gd name="connsiteX57" fmla="*/ 2123090 w 3658221"/>
              <a:gd name="connsiteY57" fmla="*/ 2879834 h 2908281"/>
              <a:gd name="connsiteX58" fmla="*/ 2154621 w 3658221"/>
              <a:gd name="connsiteY58" fmla="*/ 2890344 h 2908281"/>
              <a:gd name="connsiteX59" fmla="*/ 2511973 w 3658221"/>
              <a:gd name="connsiteY59" fmla="*/ 2890344 h 2908281"/>
              <a:gd name="connsiteX60" fmla="*/ 2606566 w 3658221"/>
              <a:gd name="connsiteY60" fmla="*/ 2869324 h 2908281"/>
              <a:gd name="connsiteX61" fmla="*/ 2669628 w 3658221"/>
              <a:gd name="connsiteY61" fmla="*/ 2827282 h 2908281"/>
              <a:gd name="connsiteX62" fmla="*/ 2921876 w 3658221"/>
              <a:gd name="connsiteY62" fmla="*/ 2806262 h 2908281"/>
              <a:gd name="connsiteX63" fmla="*/ 2963917 w 3658221"/>
              <a:gd name="connsiteY63" fmla="*/ 2774731 h 2908281"/>
              <a:gd name="connsiteX64" fmla="*/ 3005959 w 3658221"/>
              <a:gd name="connsiteY64" fmla="*/ 2690648 h 2908281"/>
              <a:gd name="connsiteX65" fmla="*/ 3048000 w 3658221"/>
              <a:gd name="connsiteY65" fmla="*/ 2564524 h 2908281"/>
              <a:gd name="connsiteX66" fmla="*/ 3058510 w 3658221"/>
              <a:gd name="connsiteY66" fmla="*/ 2522482 h 2908281"/>
              <a:gd name="connsiteX67" fmla="*/ 3079531 w 3658221"/>
              <a:gd name="connsiteY67" fmla="*/ 2459420 h 2908281"/>
              <a:gd name="connsiteX68" fmla="*/ 3090042 w 3658221"/>
              <a:gd name="connsiteY68" fmla="*/ 2417379 h 2908281"/>
              <a:gd name="connsiteX69" fmla="*/ 3184635 w 3658221"/>
              <a:gd name="connsiteY69" fmla="*/ 2375337 h 2908281"/>
              <a:gd name="connsiteX70" fmla="*/ 3331779 w 3658221"/>
              <a:gd name="connsiteY70" fmla="*/ 2280744 h 2908281"/>
              <a:gd name="connsiteX71" fmla="*/ 3363310 w 3658221"/>
              <a:gd name="connsiteY71" fmla="*/ 2259724 h 2908281"/>
              <a:gd name="connsiteX72" fmla="*/ 3415862 w 3658221"/>
              <a:gd name="connsiteY72" fmla="*/ 2196662 h 2908281"/>
              <a:gd name="connsiteX73" fmla="*/ 3426373 w 3658221"/>
              <a:gd name="connsiteY73" fmla="*/ 2165131 h 2908281"/>
              <a:gd name="connsiteX74" fmla="*/ 3457904 w 3658221"/>
              <a:gd name="connsiteY74" fmla="*/ 2112579 h 2908281"/>
              <a:gd name="connsiteX75" fmla="*/ 3468414 w 3658221"/>
              <a:gd name="connsiteY75" fmla="*/ 2081048 h 2908281"/>
              <a:gd name="connsiteX76" fmla="*/ 3541986 w 3658221"/>
              <a:gd name="connsiteY76" fmla="*/ 2060027 h 2908281"/>
              <a:gd name="connsiteX77" fmla="*/ 3615559 w 3658221"/>
              <a:gd name="connsiteY77" fmla="*/ 1996965 h 2908281"/>
              <a:gd name="connsiteX78" fmla="*/ 3647090 w 3658221"/>
              <a:gd name="connsiteY78" fmla="*/ 1944413 h 2908281"/>
              <a:gd name="connsiteX79" fmla="*/ 3647090 w 3658221"/>
              <a:gd name="connsiteY79" fmla="*/ 1797269 h 2908281"/>
              <a:gd name="connsiteX80" fmla="*/ 3573517 w 3658221"/>
              <a:gd name="connsiteY80" fmla="*/ 1681655 h 2908281"/>
              <a:gd name="connsiteX81" fmla="*/ 3552497 w 3658221"/>
              <a:gd name="connsiteY81" fmla="*/ 1177158 h 2908281"/>
              <a:gd name="connsiteX82" fmla="*/ 3531476 w 3658221"/>
              <a:gd name="connsiteY82" fmla="*/ 1124606 h 2908281"/>
              <a:gd name="connsiteX83" fmla="*/ 3384331 w 3658221"/>
              <a:gd name="connsiteY83" fmla="*/ 809296 h 2908281"/>
              <a:gd name="connsiteX84" fmla="*/ 3331779 w 3658221"/>
              <a:gd name="connsiteY84" fmla="*/ 725213 h 2908281"/>
              <a:gd name="connsiteX85" fmla="*/ 3226676 w 3658221"/>
              <a:gd name="connsiteY85" fmla="*/ 420413 h 2908281"/>
              <a:gd name="connsiteX86" fmla="*/ 3184635 w 3658221"/>
              <a:gd name="connsiteY86" fmla="*/ 262758 h 2908281"/>
              <a:gd name="connsiteX87" fmla="*/ 3132083 w 3658221"/>
              <a:gd name="connsiteY87" fmla="*/ 199696 h 2908281"/>
              <a:gd name="connsiteX88" fmla="*/ 2963917 w 3658221"/>
              <a:gd name="connsiteY88" fmla="*/ 147144 h 2908281"/>
              <a:gd name="connsiteX89" fmla="*/ 2806262 w 3658221"/>
              <a:gd name="connsiteY89" fmla="*/ 126124 h 2908281"/>
              <a:gd name="connsiteX90" fmla="*/ 2522483 w 3658221"/>
              <a:gd name="connsiteY90" fmla="*/ 168165 h 2908281"/>
              <a:gd name="connsiteX91" fmla="*/ 2385848 w 3658221"/>
              <a:gd name="connsiteY91" fmla="*/ 220717 h 2908281"/>
              <a:gd name="connsiteX92" fmla="*/ 2175642 w 3658221"/>
              <a:gd name="connsiteY92" fmla="*/ 126124 h 2908281"/>
              <a:gd name="connsiteX93" fmla="*/ 1965435 w 3658221"/>
              <a:gd name="connsiteY93" fmla="*/ 0 h 2908281"/>
              <a:gd name="connsiteX94" fmla="*/ 1818290 w 3658221"/>
              <a:gd name="connsiteY94" fmla="*/ 63062 h 2908281"/>
              <a:gd name="connsiteX95" fmla="*/ 1744717 w 3658221"/>
              <a:gd name="connsiteY95" fmla="*/ 115613 h 2908281"/>
              <a:gd name="connsiteX96" fmla="*/ 1629104 w 3658221"/>
              <a:gd name="connsiteY96" fmla="*/ 147144 h 2908281"/>
              <a:gd name="connsiteX97" fmla="*/ 1460938 w 3658221"/>
              <a:gd name="connsiteY97" fmla="*/ 178675 h 2908281"/>
              <a:gd name="connsiteX98" fmla="*/ 1051035 w 3658221"/>
              <a:gd name="connsiteY98" fmla="*/ 178675 h 2908281"/>
              <a:gd name="connsiteX99" fmla="*/ 977462 w 3658221"/>
              <a:gd name="connsiteY99" fmla="*/ 199696 h 2908281"/>
              <a:gd name="connsiteX100" fmla="*/ 924910 w 3658221"/>
              <a:gd name="connsiteY100" fmla="*/ 231227 h 290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658221" h="2908281">
                <a:moveTo>
                  <a:pt x="1019504" y="178675"/>
                </a:moveTo>
                <a:cubicBezTo>
                  <a:pt x="991476" y="171668"/>
                  <a:pt x="963872" y="162676"/>
                  <a:pt x="935421" y="157655"/>
                </a:cubicBezTo>
                <a:cubicBezTo>
                  <a:pt x="796470" y="133134"/>
                  <a:pt x="887690" y="160189"/>
                  <a:pt x="777766" y="136634"/>
                </a:cubicBezTo>
                <a:cubicBezTo>
                  <a:pt x="749517" y="130581"/>
                  <a:pt x="722350" y="119196"/>
                  <a:pt x="693683" y="115613"/>
                </a:cubicBezTo>
                <a:cubicBezTo>
                  <a:pt x="665655" y="112110"/>
                  <a:pt x="637517" y="109398"/>
                  <a:pt x="609600" y="105103"/>
                </a:cubicBezTo>
                <a:cubicBezTo>
                  <a:pt x="591943" y="102387"/>
                  <a:pt x="574733" y="97119"/>
                  <a:pt x="557048" y="94593"/>
                </a:cubicBezTo>
                <a:cubicBezTo>
                  <a:pt x="525642" y="90106"/>
                  <a:pt x="493986" y="87586"/>
                  <a:pt x="462455" y="84082"/>
                </a:cubicBezTo>
                <a:cubicBezTo>
                  <a:pt x="385379" y="87586"/>
                  <a:pt x="307944" y="86373"/>
                  <a:pt x="231228" y="94593"/>
                </a:cubicBezTo>
                <a:cubicBezTo>
                  <a:pt x="209196" y="96954"/>
                  <a:pt x="168166" y="115613"/>
                  <a:pt x="168166" y="115613"/>
                </a:cubicBezTo>
                <a:cubicBezTo>
                  <a:pt x="161159" y="126123"/>
                  <a:pt x="152794" y="135846"/>
                  <a:pt x="147145" y="147144"/>
                </a:cubicBezTo>
                <a:cubicBezTo>
                  <a:pt x="119457" y="202521"/>
                  <a:pt x="143075" y="268841"/>
                  <a:pt x="147145" y="325820"/>
                </a:cubicBezTo>
                <a:cubicBezTo>
                  <a:pt x="143642" y="353848"/>
                  <a:pt x="145567" y="383107"/>
                  <a:pt x="136635" y="409903"/>
                </a:cubicBezTo>
                <a:cubicBezTo>
                  <a:pt x="131096" y="426521"/>
                  <a:pt x="114117" y="436923"/>
                  <a:pt x="105104" y="451944"/>
                </a:cubicBezTo>
                <a:cubicBezTo>
                  <a:pt x="93012" y="472097"/>
                  <a:pt x="85665" y="494853"/>
                  <a:pt x="73573" y="515006"/>
                </a:cubicBezTo>
                <a:cubicBezTo>
                  <a:pt x="64560" y="530027"/>
                  <a:pt x="51326" y="542193"/>
                  <a:pt x="42042" y="557048"/>
                </a:cubicBezTo>
                <a:cubicBezTo>
                  <a:pt x="33738" y="570334"/>
                  <a:pt x="26522" y="584419"/>
                  <a:pt x="21021" y="599089"/>
                </a:cubicBezTo>
                <a:cubicBezTo>
                  <a:pt x="15949" y="612615"/>
                  <a:pt x="14478" y="627241"/>
                  <a:pt x="10510" y="641131"/>
                </a:cubicBezTo>
                <a:cubicBezTo>
                  <a:pt x="7466" y="651784"/>
                  <a:pt x="3503" y="662152"/>
                  <a:pt x="0" y="672662"/>
                </a:cubicBezTo>
                <a:cubicBezTo>
                  <a:pt x="4065" y="709248"/>
                  <a:pt x="6688" y="793053"/>
                  <a:pt x="31531" y="830317"/>
                </a:cubicBezTo>
                <a:lnTo>
                  <a:pt x="52552" y="861848"/>
                </a:lnTo>
                <a:cubicBezTo>
                  <a:pt x="56055" y="1008993"/>
                  <a:pt x="56669" y="1156235"/>
                  <a:pt x="63062" y="1303282"/>
                </a:cubicBezTo>
                <a:cubicBezTo>
                  <a:pt x="63319" y="1309184"/>
                  <a:pt x="78931" y="1367581"/>
                  <a:pt x="84083" y="1376855"/>
                </a:cubicBezTo>
                <a:cubicBezTo>
                  <a:pt x="96352" y="1398939"/>
                  <a:pt x="112110" y="1418896"/>
                  <a:pt x="126124" y="1439917"/>
                </a:cubicBezTo>
                <a:cubicBezTo>
                  <a:pt x="133131" y="1450427"/>
                  <a:pt x="138213" y="1462516"/>
                  <a:pt x="147145" y="1471448"/>
                </a:cubicBezTo>
                <a:lnTo>
                  <a:pt x="178676" y="1502979"/>
                </a:lnTo>
                <a:cubicBezTo>
                  <a:pt x="171669" y="1520496"/>
                  <a:pt x="164280" y="1537865"/>
                  <a:pt x="157655" y="1555531"/>
                </a:cubicBezTo>
                <a:cubicBezTo>
                  <a:pt x="153765" y="1565904"/>
                  <a:pt x="152100" y="1577153"/>
                  <a:pt x="147145" y="1587062"/>
                </a:cubicBezTo>
                <a:cubicBezTo>
                  <a:pt x="96622" y="1688108"/>
                  <a:pt x="162008" y="1522831"/>
                  <a:pt x="94593" y="1671144"/>
                </a:cubicBezTo>
                <a:cubicBezTo>
                  <a:pt x="85424" y="1691316"/>
                  <a:pt x="80580" y="1713185"/>
                  <a:pt x="73573" y="1734206"/>
                </a:cubicBezTo>
                <a:cubicBezTo>
                  <a:pt x="70070" y="1744716"/>
                  <a:pt x="69709" y="1756874"/>
                  <a:pt x="63062" y="1765737"/>
                </a:cubicBezTo>
                <a:lnTo>
                  <a:pt x="31531" y="1807779"/>
                </a:lnTo>
                <a:cubicBezTo>
                  <a:pt x="28028" y="1821793"/>
                  <a:pt x="24989" y="1835931"/>
                  <a:pt x="21021" y="1849820"/>
                </a:cubicBezTo>
                <a:cubicBezTo>
                  <a:pt x="17977" y="1860473"/>
                  <a:pt x="9507" y="1870318"/>
                  <a:pt x="10510" y="1881351"/>
                </a:cubicBezTo>
                <a:cubicBezTo>
                  <a:pt x="19440" y="1979589"/>
                  <a:pt x="39163" y="1966374"/>
                  <a:pt x="94593" y="2049517"/>
                </a:cubicBezTo>
                <a:cubicBezTo>
                  <a:pt x="123074" y="2092238"/>
                  <a:pt x="154336" y="2140792"/>
                  <a:pt x="189186" y="2175641"/>
                </a:cubicBezTo>
                <a:cubicBezTo>
                  <a:pt x="284080" y="2270533"/>
                  <a:pt x="187261" y="2186249"/>
                  <a:pt x="262759" y="2228193"/>
                </a:cubicBezTo>
                <a:cubicBezTo>
                  <a:pt x="284843" y="2240462"/>
                  <a:pt x="325821" y="2270234"/>
                  <a:pt x="325821" y="2270234"/>
                </a:cubicBezTo>
                <a:cubicBezTo>
                  <a:pt x="341781" y="2318117"/>
                  <a:pt x="339307" y="2309173"/>
                  <a:pt x="357352" y="2375337"/>
                </a:cubicBezTo>
                <a:cubicBezTo>
                  <a:pt x="369068" y="2418295"/>
                  <a:pt x="364215" y="2419952"/>
                  <a:pt x="388883" y="2459420"/>
                </a:cubicBezTo>
                <a:cubicBezTo>
                  <a:pt x="398167" y="2474275"/>
                  <a:pt x="408696" y="2488441"/>
                  <a:pt x="420414" y="2501462"/>
                </a:cubicBezTo>
                <a:cubicBezTo>
                  <a:pt x="458452" y="2543727"/>
                  <a:pt x="495189" y="2580890"/>
                  <a:pt x="546538" y="2606565"/>
                </a:cubicBezTo>
                <a:cubicBezTo>
                  <a:pt x="569330" y="2617961"/>
                  <a:pt x="594333" y="2632941"/>
                  <a:pt x="620110" y="2638096"/>
                </a:cubicBezTo>
                <a:cubicBezTo>
                  <a:pt x="644402" y="2642954"/>
                  <a:pt x="669309" y="2644174"/>
                  <a:pt x="693683" y="2648606"/>
                </a:cubicBezTo>
                <a:cubicBezTo>
                  <a:pt x="707895" y="2651190"/>
                  <a:pt x="721835" y="2655149"/>
                  <a:pt x="735724" y="2659117"/>
                </a:cubicBezTo>
                <a:cubicBezTo>
                  <a:pt x="746377" y="2662161"/>
                  <a:pt x="756355" y="2667645"/>
                  <a:pt x="767255" y="2669627"/>
                </a:cubicBezTo>
                <a:cubicBezTo>
                  <a:pt x="795045" y="2674680"/>
                  <a:pt x="823310" y="2676634"/>
                  <a:pt x="851338" y="2680137"/>
                </a:cubicBezTo>
                <a:cubicBezTo>
                  <a:pt x="1039839" y="2674425"/>
                  <a:pt x="1107543" y="2697025"/>
                  <a:pt x="1240221" y="2659117"/>
                </a:cubicBezTo>
                <a:cubicBezTo>
                  <a:pt x="1250874" y="2656073"/>
                  <a:pt x="1261099" y="2651650"/>
                  <a:pt x="1271752" y="2648606"/>
                </a:cubicBezTo>
                <a:cubicBezTo>
                  <a:pt x="1382969" y="2616829"/>
                  <a:pt x="1226951" y="2667043"/>
                  <a:pt x="1376855" y="2617075"/>
                </a:cubicBezTo>
                <a:lnTo>
                  <a:pt x="1408386" y="2606565"/>
                </a:lnTo>
                <a:cubicBezTo>
                  <a:pt x="1418896" y="2599558"/>
                  <a:pt x="1427412" y="2583758"/>
                  <a:pt x="1439917" y="2585544"/>
                </a:cubicBezTo>
                <a:cubicBezTo>
                  <a:pt x="1457258" y="2588021"/>
                  <a:pt x="1468401" y="2605982"/>
                  <a:pt x="1481959" y="2617075"/>
                </a:cubicBezTo>
                <a:cubicBezTo>
                  <a:pt x="1562781" y="2683202"/>
                  <a:pt x="1533059" y="2669989"/>
                  <a:pt x="1608083" y="2711669"/>
                </a:cubicBezTo>
                <a:cubicBezTo>
                  <a:pt x="1655813" y="2738186"/>
                  <a:pt x="1778910" y="2789075"/>
                  <a:pt x="1797269" y="2795751"/>
                </a:cubicBezTo>
                <a:cubicBezTo>
                  <a:pt x="1824420" y="2805624"/>
                  <a:pt x="1854528" y="2806042"/>
                  <a:pt x="1881352" y="2816772"/>
                </a:cubicBezTo>
                <a:cubicBezTo>
                  <a:pt x="1961395" y="2848789"/>
                  <a:pt x="1904821" y="2828906"/>
                  <a:pt x="1975945" y="2848303"/>
                </a:cubicBezTo>
                <a:cubicBezTo>
                  <a:pt x="2000552" y="2855014"/>
                  <a:pt x="2024578" y="2863980"/>
                  <a:pt x="2049517" y="2869324"/>
                </a:cubicBezTo>
                <a:cubicBezTo>
                  <a:pt x="2073740" y="2874515"/>
                  <a:pt x="2098566" y="2876331"/>
                  <a:pt x="2123090" y="2879834"/>
                </a:cubicBezTo>
                <a:cubicBezTo>
                  <a:pt x="2133600" y="2883337"/>
                  <a:pt x="2143968" y="2887300"/>
                  <a:pt x="2154621" y="2890344"/>
                </a:cubicBezTo>
                <a:cubicBezTo>
                  <a:pt x="2282563" y="2926900"/>
                  <a:pt x="2299586" y="2897424"/>
                  <a:pt x="2511973" y="2890344"/>
                </a:cubicBezTo>
                <a:cubicBezTo>
                  <a:pt x="2517500" y="2889239"/>
                  <a:pt x="2596672" y="2874271"/>
                  <a:pt x="2606566" y="2869324"/>
                </a:cubicBezTo>
                <a:cubicBezTo>
                  <a:pt x="2629163" y="2858026"/>
                  <a:pt x="2644708" y="2831435"/>
                  <a:pt x="2669628" y="2827282"/>
                </a:cubicBezTo>
                <a:cubicBezTo>
                  <a:pt x="2794990" y="2806389"/>
                  <a:pt x="2711412" y="2817954"/>
                  <a:pt x="2921876" y="2806262"/>
                </a:cubicBezTo>
                <a:cubicBezTo>
                  <a:pt x="2935890" y="2795752"/>
                  <a:pt x="2952382" y="2787914"/>
                  <a:pt x="2963917" y="2774731"/>
                </a:cubicBezTo>
                <a:cubicBezTo>
                  <a:pt x="3002285" y="2730881"/>
                  <a:pt x="2988371" y="2731687"/>
                  <a:pt x="3005959" y="2690648"/>
                </a:cubicBezTo>
                <a:cubicBezTo>
                  <a:pt x="3046684" y="2595622"/>
                  <a:pt x="3010667" y="2713857"/>
                  <a:pt x="3048000" y="2564524"/>
                </a:cubicBezTo>
                <a:cubicBezTo>
                  <a:pt x="3051503" y="2550510"/>
                  <a:pt x="3053942" y="2536186"/>
                  <a:pt x="3058510" y="2522482"/>
                </a:cubicBezTo>
                <a:cubicBezTo>
                  <a:pt x="3065517" y="2501461"/>
                  <a:pt x="3074157" y="2480916"/>
                  <a:pt x="3079531" y="2459420"/>
                </a:cubicBezTo>
                <a:cubicBezTo>
                  <a:pt x="3083035" y="2445406"/>
                  <a:pt x="3078762" y="2426403"/>
                  <a:pt x="3090042" y="2417379"/>
                </a:cubicBezTo>
                <a:cubicBezTo>
                  <a:pt x="3116986" y="2395824"/>
                  <a:pt x="3154401" y="2391966"/>
                  <a:pt x="3184635" y="2375337"/>
                </a:cubicBezTo>
                <a:cubicBezTo>
                  <a:pt x="3217462" y="2357282"/>
                  <a:pt x="3288081" y="2309876"/>
                  <a:pt x="3331779" y="2280744"/>
                </a:cubicBezTo>
                <a:cubicBezTo>
                  <a:pt x="3342289" y="2273737"/>
                  <a:pt x="3354378" y="2268656"/>
                  <a:pt x="3363310" y="2259724"/>
                </a:cubicBezTo>
                <a:cubicBezTo>
                  <a:pt x="3386558" y="2236477"/>
                  <a:pt x="3401228" y="2225931"/>
                  <a:pt x="3415862" y="2196662"/>
                </a:cubicBezTo>
                <a:cubicBezTo>
                  <a:pt x="3420817" y="2186753"/>
                  <a:pt x="3421418" y="2175040"/>
                  <a:pt x="3426373" y="2165131"/>
                </a:cubicBezTo>
                <a:cubicBezTo>
                  <a:pt x="3435509" y="2146859"/>
                  <a:pt x="3448768" y="2130851"/>
                  <a:pt x="3457904" y="2112579"/>
                </a:cubicBezTo>
                <a:cubicBezTo>
                  <a:pt x="3462859" y="2102670"/>
                  <a:pt x="3459019" y="2086920"/>
                  <a:pt x="3468414" y="2081048"/>
                </a:cubicBezTo>
                <a:cubicBezTo>
                  <a:pt x="3490042" y="2067530"/>
                  <a:pt x="3517462" y="2067034"/>
                  <a:pt x="3541986" y="2060027"/>
                </a:cubicBezTo>
                <a:cubicBezTo>
                  <a:pt x="3566344" y="2041759"/>
                  <a:pt x="3596737" y="2022061"/>
                  <a:pt x="3615559" y="1996965"/>
                </a:cubicBezTo>
                <a:cubicBezTo>
                  <a:pt x="3627816" y="1980622"/>
                  <a:pt x="3636580" y="1961930"/>
                  <a:pt x="3647090" y="1944413"/>
                </a:cubicBezTo>
                <a:cubicBezTo>
                  <a:pt x="3653907" y="1896692"/>
                  <a:pt x="3668300" y="1844990"/>
                  <a:pt x="3647090" y="1797269"/>
                </a:cubicBezTo>
                <a:cubicBezTo>
                  <a:pt x="3628538" y="1755527"/>
                  <a:pt x="3573517" y="1681655"/>
                  <a:pt x="3573517" y="1681655"/>
                </a:cubicBezTo>
                <a:cubicBezTo>
                  <a:pt x="3566510" y="1513489"/>
                  <a:pt x="3565164" y="1344992"/>
                  <a:pt x="3552497" y="1177158"/>
                </a:cubicBezTo>
                <a:cubicBezTo>
                  <a:pt x="3551077" y="1158345"/>
                  <a:pt x="3539320" y="1141765"/>
                  <a:pt x="3531476" y="1124606"/>
                </a:cubicBezTo>
                <a:cubicBezTo>
                  <a:pt x="3483254" y="1019121"/>
                  <a:pt x="3434932" y="913661"/>
                  <a:pt x="3384331" y="809296"/>
                </a:cubicBezTo>
                <a:cubicBezTo>
                  <a:pt x="3359413" y="757903"/>
                  <a:pt x="3357785" y="793229"/>
                  <a:pt x="3331779" y="725213"/>
                </a:cubicBezTo>
                <a:cubicBezTo>
                  <a:pt x="3293397" y="624830"/>
                  <a:pt x="3254367" y="524255"/>
                  <a:pt x="3226676" y="420413"/>
                </a:cubicBezTo>
                <a:cubicBezTo>
                  <a:pt x="3212662" y="367861"/>
                  <a:pt x="3201834" y="314355"/>
                  <a:pt x="3184635" y="262758"/>
                </a:cubicBezTo>
                <a:cubicBezTo>
                  <a:pt x="3180111" y="249186"/>
                  <a:pt x="3143432" y="204475"/>
                  <a:pt x="3132083" y="199696"/>
                </a:cubicBezTo>
                <a:cubicBezTo>
                  <a:pt x="3077957" y="176906"/>
                  <a:pt x="3021203" y="160080"/>
                  <a:pt x="2963917" y="147144"/>
                </a:cubicBezTo>
                <a:cubicBezTo>
                  <a:pt x="2912202" y="135467"/>
                  <a:pt x="2858814" y="133131"/>
                  <a:pt x="2806262" y="126124"/>
                </a:cubicBezTo>
                <a:cubicBezTo>
                  <a:pt x="2711669" y="140138"/>
                  <a:pt x="2615776" y="147174"/>
                  <a:pt x="2522483" y="168165"/>
                </a:cubicBezTo>
                <a:cubicBezTo>
                  <a:pt x="2474876" y="178877"/>
                  <a:pt x="2385848" y="220717"/>
                  <a:pt x="2385848" y="220717"/>
                </a:cubicBezTo>
                <a:cubicBezTo>
                  <a:pt x="2289429" y="196611"/>
                  <a:pt x="2328864" y="209700"/>
                  <a:pt x="2175642" y="126124"/>
                </a:cubicBezTo>
                <a:cubicBezTo>
                  <a:pt x="2052999" y="59228"/>
                  <a:pt x="2042227" y="51193"/>
                  <a:pt x="1965435" y="0"/>
                </a:cubicBezTo>
                <a:cubicBezTo>
                  <a:pt x="1916387" y="21021"/>
                  <a:pt x="1865561" y="38301"/>
                  <a:pt x="1818290" y="63062"/>
                </a:cubicBezTo>
                <a:cubicBezTo>
                  <a:pt x="1791593" y="77046"/>
                  <a:pt x="1771673" y="102135"/>
                  <a:pt x="1744717" y="115613"/>
                </a:cubicBezTo>
                <a:cubicBezTo>
                  <a:pt x="1739378" y="118283"/>
                  <a:pt x="1649379" y="143089"/>
                  <a:pt x="1629104" y="147144"/>
                </a:cubicBezTo>
                <a:cubicBezTo>
                  <a:pt x="1573179" y="158329"/>
                  <a:pt x="1460938" y="178675"/>
                  <a:pt x="1460938" y="178675"/>
                </a:cubicBezTo>
                <a:cubicBezTo>
                  <a:pt x="1305891" y="139914"/>
                  <a:pt x="1382361" y="155009"/>
                  <a:pt x="1051035" y="178675"/>
                </a:cubicBezTo>
                <a:cubicBezTo>
                  <a:pt x="1025594" y="180492"/>
                  <a:pt x="1001986" y="192689"/>
                  <a:pt x="977462" y="199696"/>
                </a:cubicBezTo>
                <a:cubicBezTo>
                  <a:pt x="939413" y="225063"/>
                  <a:pt x="957229" y="215068"/>
                  <a:pt x="924910" y="231227"/>
                </a:cubicBezTo>
              </a:path>
            </a:pathLst>
          </a:cu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5588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1" presetClass="entr" presetSubtype="0"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8"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0-#ppt_w/2"/>
                                          </p:val>
                                        </p:tav>
                                        <p:tav tm="100000">
                                          <p:val>
                                            <p:strVal val="#ppt_x"/>
                                          </p:val>
                                        </p:tav>
                                      </p:tavLst>
                                    </p:anim>
                                    <p:anim calcmode="lin" valueType="num">
                                      <p:cBhvr additive="base">
                                        <p:cTn id="16" dur="500" fill="hold"/>
                                        <p:tgtEl>
                                          <p:spTgt spid="15"/>
                                        </p:tgtEl>
                                        <p:attrNameLst>
                                          <p:attrName>ppt_y</p:attrName>
                                        </p:attrNameLst>
                                      </p:cBhvr>
                                      <p:tavLst>
                                        <p:tav tm="0">
                                          <p:val>
                                            <p:strVal val="#ppt_y"/>
                                          </p:val>
                                        </p:tav>
                                        <p:tav tm="100000">
                                          <p:val>
                                            <p:strVal val="#ppt_y"/>
                                          </p:val>
                                        </p:tav>
                                      </p:tavLst>
                                    </p:anim>
                                  </p:childTnLst>
                                </p:cTn>
                              </p:par>
                              <p:par>
                                <p:cTn id="17" presetID="1" presetClass="entr" presetSubtype="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1" nodeType="click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500"/>
                                        <p:tgtEl>
                                          <p:spTgt spid="18"/>
                                        </p:tgtEl>
                                      </p:cBhvr>
                                    </p:animEffect>
                                  </p:childTnLst>
                                </p:cTn>
                              </p:par>
                            </p:childTnLst>
                          </p:cTn>
                        </p:par>
                        <p:par>
                          <p:cTn id="24" fill="hold">
                            <p:stCondLst>
                              <p:cond delay="500"/>
                            </p:stCondLst>
                            <p:childTnLst>
                              <p:par>
                                <p:cTn id="25" presetID="8" presetClass="emph" presetSubtype="0" fill="hold" grpId="0" nodeType="afterEffect">
                                  <p:stCondLst>
                                    <p:cond delay="0"/>
                                  </p:stCondLst>
                                  <p:childTnLst>
                                    <p:animRot by="21600000">
                                      <p:cBhvr>
                                        <p:cTn id="26" dur="2000" fill="hold"/>
                                        <p:tgtEl>
                                          <p:spTgt spid="18"/>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8" grpId="0" animBg="1"/>
      <p:bldP spid="18"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B76E6-8E55-4532-B4C9-362459A30A05}"/>
              </a:ext>
            </a:extLst>
          </p:cNvPr>
          <p:cNvSpPr>
            <a:spLocks noGrp="1"/>
          </p:cNvSpPr>
          <p:nvPr>
            <p:ph type="title"/>
          </p:nvPr>
        </p:nvSpPr>
        <p:spPr/>
        <p:txBody>
          <a:bodyPr/>
          <a:lstStyle/>
          <a:p>
            <a:r>
              <a:rPr lang="en-US" b="1" dirty="0">
                <a:latin typeface="Helvetica Neue Light" panose="020B0702040204020203" pitchFamily="34" charset="0"/>
                <a:ea typeface="Helvetica Neue Light" panose="020B0702040204020203" pitchFamily="34" charset="0"/>
                <a:cs typeface="Helvetica Neue" panose="020B0502040204020203" pitchFamily="34" charset="0"/>
              </a:rPr>
              <a:t>Booking a ride</a:t>
            </a:r>
          </a:p>
        </p:txBody>
      </p:sp>
      <p:sp>
        <p:nvSpPr>
          <p:cNvPr id="12" name="Frame 11">
            <a:extLst>
              <a:ext uri="{FF2B5EF4-FFF2-40B4-BE49-F238E27FC236}">
                <a16:creationId xmlns:a16="http://schemas.microsoft.com/office/drawing/2014/main" id="{8919982F-FA87-7D9F-9D7B-A6C09EB47D49}"/>
              </a:ext>
            </a:extLst>
          </p:cNvPr>
          <p:cNvSpPr/>
          <p:nvPr/>
        </p:nvSpPr>
        <p:spPr>
          <a:xfrm>
            <a:off x="3996965" y="1454083"/>
            <a:ext cx="3327663" cy="5234234"/>
          </a:xfrm>
          <a:prstGeom prst="frame">
            <a:avLst>
              <a:gd name="adj1" fmla="val 168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Frame 12">
            <a:extLst>
              <a:ext uri="{FF2B5EF4-FFF2-40B4-BE49-F238E27FC236}">
                <a16:creationId xmlns:a16="http://schemas.microsoft.com/office/drawing/2014/main" id="{BB312343-9B52-BC9D-781D-7DFE41C83582}"/>
              </a:ext>
            </a:extLst>
          </p:cNvPr>
          <p:cNvSpPr/>
          <p:nvPr/>
        </p:nvSpPr>
        <p:spPr>
          <a:xfrm>
            <a:off x="650449" y="1454083"/>
            <a:ext cx="2755557" cy="5234234"/>
          </a:xfrm>
          <a:prstGeom prst="frame">
            <a:avLst>
              <a:gd name="adj1" fmla="val 168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Right Arrow 13">
            <a:extLst>
              <a:ext uri="{FF2B5EF4-FFF2-40B4-BE49-F238E27FC236}">
                <a16:creationId xmlns:a16="http://schemas.microsoft.com/office/drawing/2014/main" id="{05401633-3026-D210-07F5-2F2B13EB5D05}"/>
              </a:ext>
            </a:extLst>
          </p:cNvPr>
          <p:cNvSpPr/>
          <p:nvPr/>
        </p:nvSpPr>
        <p:spPr>
          <a:xfrm>
            <a:off x="3461102" y="3822570"/>
            <a:ext cx="405353" cy="263950"/>
          </a:xfrm>
          <a:prstGeom prst="rightArrow">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creenshot of a taxi application&#10;&#10;Description automatically generated">
            <a:extLst>
              <a:ext uri="{FF2B5EF4-FFF2-40B4-BE49-F238E27FC236}">
                <a16:creationId xmlns:a16="http://schemas.microsoft.com/office/drawing/2014/main" id="{6F922D23-E51B-D619-EED2-C307E91165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3719" y="1529499"/>
            <a:ext cx="2575089" cy="5059837"/>
          </a:xfrm>
          <a:prstGeom prst="rect">
            <a:avLst/>
          </a:prstGeom>
        </p:spPr>
      </p:pic>
      <p:pic>
        <p:nvPicPr>
          <p:cNvPr id="8" name="Picture 7" descr="A screenshot of a phone&#10;&#10;Description automatically generated">
            <a:extLst>
              <a:ext uri="{FF2B5EF4-FFF2-40B4-BE49-F238E27FC236}">
                <a16:creationId xmlns:a16="http://schemas.microsoft.com/office/drawing/2014/main" id="{94E832A8-30DE-3F2A-8650-8FFA36E17F70}"/>
              </a:ext>
            </a:extLst>
          </p:cNvPr>
          <p:cNvPicPr>
            <a:picLocks noChangeAspect="1"/>
          </p:cNvPicPr>
          <p:nvPr/>
        </p:nvPicPr>
        <p:blipFill rotWithShape="1">
          <a:blip r:embed="rId4">
            <a:extLst>
              <a:ext uri="{28A0092B-C50C-407E-A947-70E740481C1C}">
                <a14:useLocalDpi xmlns:a14="http://schemas.microsoft.com/office/drawing/2010/main" val="0"/>
              </a:ext>
            </a:extLst>
          </a:blip>
          <a:srcRect t="5292" b="72303"/>
          <a:stretch/>
        </p:blipFill>
        <p:spPr>
          <a:xfrm>
            <a:off x="4075724" y="1529499"/>
            <a:ext cx="3168981" cy="1536570"/>
          </a:xfrm>
          <a:prstGeom prst="rect">
            <a:avLst/>
          </a:prstGeom>
        </p:spPr>
      </p:pic>
      <p:pic>
        <p:nvPicPr>
          <p:cNvPr id="16" name="Picture 15" descr="A screenshot of a phone&#10;&#10;Description automatically generated">
            <a:extLst>
              <a:ext uri="{FF2B5EF4-FFF2-40B4-BE49-F238E27FC236}">
                <a16:creationId xmlns:a16="http://schemas.microsoft.com/office/drawing/2014/main" id="{F2AF5846-44CB-36B0-AF33-C59E7399AF70}"/>
              </a:ext>
            </a:extLst>
          </p:cNvPr>
          <p:cNvPicPr>
            <a:picLocks noChangeAspect="1"/>
          </p:cNvPicPr>
          <p:nvPr/>
        </p:nvPicPr>
        <p:blipFill rotWithShape="1">
          <a:blip r:embed="rId5">
            <a:extLst>
              <a:ext uri="{28A0092B-C50C-407E-A947-70E740481C1C}">
                <a14:useLocalDpi xmlns:a14="http://schemas.microsoft.com/office/drawing/2010/main" val="0"/>
              </a:ext>
            </a:extLst>
          </a:blip>
          <a:srcRect t="75739"/>
          <a:stretch/>
        </p:blipFill>
        <p:spPr>
          <a:xfrm>
            <a:off x="4180358" y="3235434"/>
            <a:ext cx="2959712" cy="1553957"/>
          </a:xfrm>
          <a:prstGeom prst="rect">
            <a:avLst/>
          </a:prstGeom>
        </p:spPr>
      </p:pic>
      <p:grpSp>
        <p:nvGrpSpPr>
          <p:cNvPr id="24" name="Group 23">
            <a:extLst>
              <a:ext uri="{FF2B5EF4-FFF2-40B4-BE49-F238E27FC236}">
                <a16:creationId xmlns:a16="http://schemas.microsoft.com/office/drawing/2014/main" id="{22FE1C3C-631E-64B2-2844-B7B0F650FD27}"/>
              </a:ext>
            </a:extLst>
          </p:cNvPr>
          <p:cNvGrpSpPr/>
          <p:nvPr/>
        </p:nvGrpSpPr>
        <p:grpSpPr>
          <a:xfrm>
            <a:off x="8260407" y="1454083"/>
            <a:ext cx="3089453" cy="5234234"/>
            <a:chOff x="8260407" y="1454083"/>
            <a:chExt cx="3089453" cy="5234234"/>
          </a:xfrm>
        </p:grpSpPr>
        <p:sp>
          <p:nvSpPr>
            <p:cNvPr id="11" name="Frame 10">
              <a:extLst>
                <a:ext uri="{FF2B5EF4-FFF2-40B4-BE49-F238E27FC236}">
                  <a16:creationId xmlns:a16="http://schemas.microsoft.com/office/drawing/2014/main" id="{E9B213FB-28CC-8467-C60C-C807C902FAFE}"/>
                </a:ext>
              </a:extLst>
            </p:cNvPr>
            <p:cNvSpPr/>
            <p:nvPr/>
          </p:nvSpPr>
          <p:spPr>
            <a:xfrm>
              <a:off x="8260407" y="1454083"/>
              <a:ext cx="3089453" cy="5234234"/>
            </a:xfrm>
            <a:prstGeom prst="frame">
              <a:avLst>
                <a:gd name="adj1" fmla="val 168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8" name="Picture 17" descr="Screens screenshot of a phone&#10;&#10;Description automatically generated">
              <a:extLst>
                <a:ext uri="{FF2B5EF4-FFF2-40B4-BE49-F238E27FC236}">
                  <a16:creationId xmlns:a16="http://schemas.microsoft.com/office/drawing/2014/main" id="{C0913A7D-6486-9C0A-F44C-635C3BFBCB5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570785" y="1529499"/>
              <a:ext cx="2469165" cy="5059837"/>
            </a:xfrm>
            <a:prstGeom prst="rect">
              <a:avLst/>
            </a:prstGeom>
          </p:spPr>
        </p:pic>
      </p:grpSp>
      <p:cxnSp>
        <p:nvCxnSpPr>
          <p:cNvPr id="20" name="Straight Arrow Connector 19">
            <a:extLst>
              <a:ext uri="{FF2B5EF4-FFF2-40B4-BE49-F238E27FC236}">
                <a16:creationId xmlns:a16="http://schemas.microsoft.com/office/drawing/2014/main" id="{C0A1686A-D9AC-2956-B913-CCC4B9C40224}"/>
              </a:ext>
            </a:extLst>
          </p:cNvPr>
          <p:cNvCxnSpPr>
            <a:cxnSpLocks/>
          </p:cNvCxnSpPr>
          <p:nvPr/>
        </p:nvCxnSpPr>
        <p:spPr>
          <a:xfrm flipV="1">
            <a:off x="3489276" y="4345757"/>
            <a:ext cx="4636629" cy="1876367"/>
          </a:xfrm>
          <a:prstGeom prst="straightConnector1">
            <a:avLst/>
          </a:prstGeom>
          <a:ln w="5715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0ABA9B12-6E81-F2BD-615A-A2359D95AB55}"/>
              </a:ext>
            </a:extLst>
          </p:cNvPr>
          <p:cNvSpPr/>
          <p:nvPr/>
        </p:nvSpPr>
        <p:spPr>
          <a:xfrm>
            <a:off x="2553000" y="6032938"/>
            <a:ext cx="983516" cy="730795"/>
          </a:xfrm>
          <a:prstGeom prst="ellipse">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25867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dissolv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dissolve">
                                      <p:cBhvr>
                                        <p:cTn id="12" dur="500"/>
                                        <p:tgtEl>
                                          <p:spTgt spid="20"/>
                                        </p:tgtEl>
                                      </p:cBhvr>
                                    </p:animEffect>
                                  </p:childTnLst>
                                </p:cTn>
                              </p:par>
                              <p:par>
                                <p:cTn id="13" presetID="1" presetClass="entr" presetSubtype="0" fill="hold"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B76E6-8E55-4532-B4C9-362459A30A05}"/>
              </a:ext>
            </a:extLst>
          </p:cNvPr>
          <p:cNvSpPr>
            <a:spLocks noGrp="1"/>
          </p:cNvSpPr>
          <p:nvPr>
            <p:ph type="title"/>
          </p:nvPr>
        </p:nvSpPr>
        <p:spPr/>
        <p:txBody>
          <a:bodyPr/>
          <a:lstStyle/>
          <a:p>
            <a:r>
              <a:rPr lang="en-US" b="1" dirty="0">
                <a:latin typeface="Helvetica Neue Light" panose="020B0702040204020203" pitchFamily="34" charset="0"/>
                <a:ea typeface="Helvetica Neue Light" panose="020B0702040204020203" pitchFamily="34" charset="0"/>
                <a:cs typeface="Helvetica Neue" panose="020B0502040204020203" pitchFamily="34" charset="0"/>
              </a:rPr>
              <a:t>Booking a ride</a:t>
            </a:r>
          </a:p>
        </p:txBody>
      </p:sp>
      <p:sp>
        <p:nvSpPr>
          <p:cNvPr id="13" name="Frame 12">
            <a:extLst>
              <a:ext uri="{FF2B5EF4-FFF2-40B4-BE49-F238E27FC236}">
                <a16:creationId xmlns:a16="http://schemas.microsoft.com/office/drawing/2014/main" id="{BB312343-9B52-BC9D-781D-7DFE41C83582}"/>
              </a:ext>
            </a:extLst>
          </p:cNvPr>
          <p:cNvSpPr/>
          <p:nvPr/>
        </p:nvSpPr>
        <p:spPr>
          <a:xfrm>
            <a:off x="650449" y="1454083"/>
            <a:ext cx="2755557" cy="5234234"/>
          </a:xfrm>
          <a:prstGeom prst="frame">
            <a:avLst>
              <a:gd name="adj1" fmla="val 168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Right Arrow 13">
            <a:extLst>
              <a:ext uri="{FF2B5EF4-FFF2-40B4-BE49-F238E27FC236}">
                <a16:creationId xmlns:a16="http://schemas.microsoft.com/office/drawing/2014/main" id="{05401633-3026-D210-07F5-2F2B13EB5D05}"/>
              </a:ext>
            </a:extLst>
          </p:cNvPr>
          <p:cNvSpPr/>
          <p:nvPr/>
        </p:nvSpPr>
        <p:spPr>
          <a:xfrm>
            <a:off x="3461102" y="3822570"/>
            <a:ext cx="405353" cy="263950"/>
          </a:xfrm>
          <a:prstGeom prst="rightArrow">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ight Arrow 14">
            <a:extLst>
              <a:ext uri="{FF2B5EF4-FFF2-40B4-BE49-F238E27FC236}">
                <a16:creationId xmlns:a16="http://schemas.microsoft.com/office/drawing/2014/main" id="{ED6C5FF2-D090-4735-44B8-3B283DA1DA1A}"/>
              </a:ext>
            </a:extLst>
          </p:cNvPr>
          <p:cNvSpPr/>
          <p:nvPr/>
        </p:nvSpPr>
        <p:spPr>
          <a:xfrm>
            <a:off x="7589841" y="3822570"/>
            <a:ext cx="405353" cy="263950"/>
          </a:xfrm>
          <a:prstGeom prst="rightArrow">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4EF9F3CC-02F9-9300-6C67-8C2406E72D82}"/>
              </a:ext>
            </a:extLst>
          </p:cNvPr>
          <p:cNvGrpSpPr/>
          <p:nvPr/>
        </p:nvGrpSpPr>
        <p:grpSpPr>
          <a:xfrm>
            <a:off x="3996965" y="1454083"/>
            <a:ext cx="3327663" cy="5234234"/>
            <a:chOff x="3996965" y="1454083"/>
            <a:chExt cx="3327663" cy="5234234"/>
          </a:xfrm>
        </p:grpSpPr>
        <p:sp>
          <p:nvSpPr>
            <p:cNvPr id="12" name="Frame 11">
              <a:extLst>
                <a:ext uri="{FF2B5EF4-FFF2-40B4-BE49-F238E27FC236}">
                  <a16:creationId xmlns:a16="http://schemas.microsoft.com/office/drawing/2014/main" id="{8919982F-FA87-7D9F-9D7B-A6C09EB47D49}"/>
                </a:ext>
              </a:extLst>
            </p:cNvPr>
            <p:cNvSpPr/>
            <p:nvPr/>
          </p:nvSpPr>
          <p:spPr>
            <a:xfrm>
              <a:off x="3996965" y="1454083"/>
              <a:ext cx="3327663" cy="5234234"/>
            </a:xfrm>
            <a:prstGeom prst="frame">
              <a:avLst>
                <a:gd name="adj1" fmla="val 168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5" name="Picture 4" descr="A screenshot of a phone&#10;&#10;Description automatically generated">
              <a:extLst>
                <a:ext uri="{FF2B5EF4-FFF2-40B4-BE49-F238E27FC236}">
                  <a16:creationId xmlns:a16="http://schemas.microsoft.com/office/drawing/2014/main" id="{28756431-879A-47CD-45D4-996E525C81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73615" y="1566028"/>
              <a:ext cx="2574361" cy="5040984"/>
            </a:xfrm>
            <a:prstGeom prst="rect">
              <a:avLst/>
            </a:prstGeom>
          </p:spPr>
        </p:pic>
      </p:grpSp>
      <p:pic>
        <p:nvPicPr>
          <p:cNvPr id="7" name="Picture 6" descr="A screenshot of a map&#10;&#10;Description automatically generated">
            <a:extLst>
              <a:ext uri="{FF2B5EF4-FFF2-40B4-BE49-F238E27FC236}">
                <a16:creationId xmlns:a16="http://schemas.microsoft.com/office/drawing/2014/main" id="{AC0D59A5-41FF-9E78-366E-EFCEC609B53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1710" y="1525093"/>
            <a:ext cx="2488473" cy="5080813"/>
          </a:xfrm>
          <a:prstGeom prst="rect">
            <a:avLst/>
          </a:prstGeom>
        </p:spPr>
      </p:pic>
      <p:grpSp>
        <p:nvGrpSpPr>
          <p:cNvPr id="23" name="Group 22">
            <a:extLst>
              <a:ext uri="{FF2B5EF4-FFF2-40B4-BE49-F238E27FC236}">
                <a16:creationId xmlns:a16="http://schemas.microsoft.com/office/drawing/2014/main" id="{AFD5A001-BC28-5328-9A46-CAACD095C334}"/>
              </a:ext>
            </a:extLst>
          </p:cNvPr>
          <p:cNvGrpSpPr/>
          <p:nvPr/>
        </p:nvGrpSpPr>
        <p:grpSpPr>
          <a:xfrm>
            <a:off x="8181327" y="1454083"/>
            <a:ext cx="3168534" cy="5234234"/>
            <a:chOff x="8181327" y="1454083"/>
            <a:chExt cx="3168534" cy="5234234"/>
          </a:xfrm>
        </p:grpSpPr>
        <p:sp>
          <p:nvSpPr>
            <p:cNvPr id="11" name="Frame 10">
              <a:extLst>
                <a:ext uri="{FF2B5EF4-FFF2-40B4-BE49-F238E27FC236}">
                  <a16:creationId xmlns:a16="http://schemas.microsoft.com/office/drawing/2014/main" id="{E9B213FB-28CC-8467-C60C-C807C902FAFE}"/>
                </a:ext>
              </a:extLst>
            </p:cNvPr>
            <p:cNvSpPr/>
            <p:nvPr/>
          </p:nvSpPr>
          <p:spPr>
            <a:xfrm>
              <a:off x="8181327" y="1454083"/>
              <a:ext cx="3168534" cy="5234234"/>
            </a:xfrm>
            <a:prstGeom prst="frame">
              <a:avLst>
                <a:gd name="adj1" fmla="val 168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9" name="Picture 18" descr="A screenshot of a phone&#10;&#10;Description automatically generated">
              <a:extLst>
                <a:ext uri="{FF2B5EF4-FFF2-40B4-BE49-F238E27FC236}">
                  <a16:creationId xmlns:a16="http://schemas.microsoft.com/office/drawing/2014/main" id="{587FFAC5-BB4D-8A76-FD92-46D1F3EAE97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41435" y="1525093"/>
              <a:ext cx="2828238" cy="3363310"/>
            </a:xfrm>
            <a:prstGeom prst="rect">
              <a:avLst/>
            </a:prstGeom>
          </p:spPr>
        </p:pic>
      </p:grpSp>
      <p:sp>
        <p:nvSpPr>
          <p:cNvPr id="21" name="Oval 20">
            <a:extLst>
              <a:ext uri="{FF2B5EF4-FFF2-40B4-BE49-F238E27FC236}">
                <a16:creationId xmlns:a16="http://schemas.microsoft.com/office/drawing/2014/main" id="{BC3C2DE8-9B7D-CFBD-DB25-7635D3106E07}"/>
              </a:ext>
            </a:extLst>
          </p:cNvPr>
          <p:cNvSpPr/>
          <p:nvPr/>
        </p:nvSpPr>
        <p:spPr>
          <a:xfrm>
            <a:off x="1150498" y="2703347"/>
            <a:ext cx="1750895" cy="1006802"/>
          </a:xfrm>
          <a:prstGeom prst="ellipse">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18259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1" presetClass="entr" presetSubtype="0" fill="hold"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8"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0-#ppt_w/2"/>
                                          </p:val>
                                        </p:tav>
                                        <p:tav tm="100000">
                                          <p:val>
                                            <p:strVal val="#ppt_x"/>
                                          </p:val>
                                        </p:tav>
                                      </p:tavLst>
                                    </p:anim>
                                    <p:anim calcmode="lin" valueType="num">
                                      <p:cBhvr additive="base">
                                        <p:cTn id="16" dur="500" fill="hold"/>
                                        <p:tgtEl>
                                          <p:spTgt spid="15"/>
                                        </p:tgtEl>
                                        <p:attrNameLst>
                                          <p:attrName>ppt_y</p:attrName>
                                        </p:attrNameLst>
                                      </p:cBhvr>
                                      <p:tavLst>
                                        <p:tav tm="0">
                                          <p:val>
                                            <p:strVal val="#ppt_y"/>
                                          </p:val>
                                        </p:tav>
                                        <p:tav tm="100000">
                                          <p:val>
                                            <p:strVal val="#ppt_y"/>
                                          </p:val>
                                        </p:tav>
                                      </p:tavLst>
                                    </p:anim>
                                  </p:childTnLst>
                                </p:cTn>
                              </p:par>
                              <p:par>
                                <p:cTn id="17" presetID="1"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B76E6-8E55-4532-B4C9-362459A30A05}"/>
              </a:ext>
            </a:extLst>
          </p:cNvPr>
          <p:cNvSpPr>
            <a:spLocks noGrp="1"/>
          </p:cNvSpPr>
          <p:nvPr>
            <p:ph type="title"/>
          </p:nvPr>
        </p:nvSpPr>
        <p:spPr/>
        <p:txBody>
          <a:bodyPr/>
          <a:lstStyle/>
          <a:p>
            <a:r>
              <a:rPr lang="en-US" b="1" dirty="0">
                <a:latin typeface="Helvetica Neue Light" panose="020B0702040204020203" pitchFamily="34" charset="0"/>
                <a:ea typeface="Helvetica Neue Light" panose="020B0702040204020203" pitchFamily="34" charset="0"/>
                <a:cs typeface="Helvetica Neue" panose="020B0502040204020203" pitchFamily="34" charset="0"/>
              </a:rPr>
              <a:t>Trusted Contacts</a:t>
            </a:r>
          </a:p>
        </p:txBody>
      </p:sp>
      <p:sp>
        <p:nvSpPr>
          <p:cNvPr id="13" name="Frame 12">
            <a:extLst>
              <a:ext uri="{FF2B5EF4-FFF2-40B4-BE49-F238E27FC236}">
                <a16:creationId xmlns:a16="http://schemas.microsoft.com/office/drawing/2014/main" id="{BB312343-9B52-BC9D-781D-7DFE41C83582}"/>
              </a:ext>
            </a:extLst>
          </p:cNvPr>
          <p:cNvSpPr/>
          <p:nvPr/>
        </p:nvSpPr>
        <p:spPr>
          <a:xfrm>
            <a:off x="650449" y="1454083"/>
            <a:ext cx="2755557" cy="5234234"/>
          </a:xfrm>
          <a:prstGeom prst="frame">
            <a:avLst>
              <a:gd name="adj1" fmla="val 168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Right Arrow 13">
            <a:extLst>
              <a:ext uri="{FF2B5EF4-FFF2-40B4-BE49-F238E27FC236}">
                <a16:creationId xmlns:a16="http://schemas.microsoft.com/office/drawing/2014/main" id="{05401633-3026-D210-07F5-2F2B13EB5D05}"/>
              </a:ext>
            </a:extLst>
          </p:cNvPr>
          <p:cNvSpPr/>
          <p:nvPr/>
        </p:nvSpPr>
        <p:spPr>
          <a:xfrm>
            <a:off x="3578373" y="3822570"/>
            <a:ext cx="405353" cy="263950"/>
          </a:xfrm>
          <a:prstGeom prst="rightArrow">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ight Arrow 14">
            <a:extLst>
              <a:ext uri="{FF2B5EF4-FFF2-40B4-BE49-F238E27FC236}">
                <a16:creationId xmlns:a16="http://schemas.microsoft.com/office/drawing/2014/main" id="{ED6C5FF2-D090-4735-44B8-3B283DA1DA1A}"/>
              </a:ext>
            </a:extLst>
          </p:cNvPr>
          <p:cNvSpPr/>
          <p:nvPr/>
        </p:nvSpPr>
        <p:spPr>
          <a:xfrm>
            <a:off x="7589841" y="3822570"/>
            <a:ext cx="405353" cy="263950"/>
          </a:xfrm>
          <a:prstGeom prst="rightArrow">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creenshot of a phone&#10;&#10;Description automatically generated">
            <a:extLst>
              <a:ext uri="{FF2B5EF4-FFF2-40B4-BE49-F238E27FC236}">
                <a16:creationId xmlns:a16="http://schemas.microsoft.com/office/drawing/2014/main" id="{2ABD2D24-F1F3-3E36-E68D-FA68D0D677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5300" y="1623766"/>
            <a:ext cx="2404742" cy="4945200"/>
          </a:xfrm>
          <a:prstGeom prst="rect">
            <a:avLst/>
          </a:prstGeom>
        </p:spPr>
      </p:pic>
      <p:grpSp>
        <p:nvGrpSpPr>
          <p:cNvPr id="20" name="Group 19">
            <a:extLst>
              <a:ext uri="{FF2B5EF4-FFF2-40B4-BE49-F238E27FC236}">
                <a16:creationId xmlns:a16="http://schemas.microsoft.com/office/drawing/2014/main" id="{28706ED1-DDA6-53BA-EE47-030EAB0809D6}"/>
              </a:ext>
            </a:extLst>
          </p:cNvPr>
          <p:cNvGrpSpPr/>
          <p:nvPr/>
        </p:nvGrpSpPr>
        <p:grpSpPr>
          <a:xfrm>
            <a:off x="4156094" y="1454083"/>
            <a:ext cx="3327663" cy="5234234"/>
            <a:chOff x="4156094" y="1454083"/>
            <a:chExt cx="3327663" cy="5234234"/>
          </a:xfrm>
        </p:grpSpPr>
        <p:sp>
          <p:nvSpPr>
            <p:cNvPr id="12" name="Frame 11">
              <a:extLst>
                <a:ext uri="{FF2B5EF4-FFF2-40B4-BE49-F238E27FC236}">
                  <a16:creationId xmlns:a16="http://schemas.microsoft.com/office/drawing/2014/main" id="{8919982F-FA87-7D9F-9D7B-A6C09EB47D49}"/>
                </a:ext>
              </a:extLst>
            </p:cNvPr>
            <p:cNvSpPr/>
            <p:nvPr/>
          </p:nvSpPr>
          <p:spPr>
            <a:xfrm>
              <a:off x="4156094" y="1454083"/>
              <a:ext cx="3327663" cy="5234234"/>
            </a:xfrm>
            <a:prstGeom prst="frame">
              <a:avLst>
                <a:gd name="adj1" fmla="val 168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8" name="Picture 7" descr="A screenshot of a phone&#10;&#10;Description automatically generated">
              <a:extLst>
                <a:ext uri="{FF2B5EF4-FFF2-40B4-BE49-F238E27FC236}">
                  <a16:creationId xmlns:a16="http://schemas.microsoft.com/office/drawing/2014/main" id="{0A38FEBF-9DA4-9F0E-0CDB-F11074D0AD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48876" y="1512575"/>
              <a:ext cx="2742098" cy="5104521"/>
            </a:xfrm>
            <a:prstGeom prst="rect">
              <a:avLst/>
            </a:prstGeom>
          </p:spPr>
        </p:pic>
      </p:grpSp>
      <p:grpSp>
        <p:nvGrpSpPr>
          <p:cNvPr id="21" name="Group 20">
            <a:extLst>
              <a:ext uri="{FF2B5EF4-FFF2-40B4-BE49-F238E27FC236}">
                <a16:creationId xmlns:a16="http://schemas.microsoft.com/office/drawing/2014/main" id="{D351975F-E638-3715-2A1B-60C6A38E8FCE}"/>
              </a:ext>
            </a:extLst>
          </p:cNvPr>
          <p:cNvGrpSpPr/>
          <p:nvPr/>
        </p:nvGrpSpPr>
        <p:grpSpPr>
          <a:xfrm>
            <a:off x="8181327" y="1454083"/>
            <a:ext cx="3168534" cy="5234234"/>
            <a:chOff x="8181327" y="1454083"/>
            <a:chExt cx="3168534" cy="5234234"/>
          </a:xfrm>
        </p:grpSpPr>
        <p:sp>
          <p:nvSpPr>
            <p:cNvPr id="11" name="Frame 10">
              <a:extLst>
                <a:ext uri="{FF2B5EF4-FFF2-40B4-BE49-F238E27FC236}">
                  <a16:creationId xmlns:a16="http://schemas.microsoft.com/office/drawing/2014/main" id="{E9B213FB-28CC-8467-C60C-C807C902FAFE}"/>
                </a:ext>
              </a:extLst>
            </p:cNvPr>
            <p:cNvSpPr/>
            <p:nvPr/>
          </p:nvSpPr>
          <p:spPr>
            <a:xfrm>
              <a:off x="8181327" y="1454083"/>
              <a:ext cx="3168534" cy="5234234"/>
            </a:xfrm>
            <a:prstGeom prst="frame">
              <a:avLst>
                <a:gd name="adj1" fmla="val 168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0" name="Picture 9" descr="A screenshot of a phone&#10;&#10;Description automatically generated">
              <a:extLst>
                <a:ext uri="{FF2B5EF4-FFF2-40B4-BE49-F238E27FC236}">
                  <a16:creationId xmlns:a16="http://schemas.microsoft.com/office/drawing/2014/main" id="{A91F371E-524F-5A34-97E7-BCECCD51D9F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38156" y="1544104"/>
              <a:ext cx="2865872" cy="4159189"/>
            </a:xfrm>
            <a:prstGeom prst="rect">
              <a:avLst/>
            </a:prstGeom>
          </p:spPr>
        </p:pic>
      </p:grpSp>
      <p:sp>
        <p:nvSpPr>
          <p:cNvPr id="16" name="Oval 15">
            <a:extLst>
              <a:ext uri="{FF2B5EF4-FFF2-40B4-BE49-F238E27FC236}">
                <a16:creationId xmlns:a16="http://schemas.microsoft.com/office/drawing/2014/main" id="{ED60BF5C-4B7F-7647-736E-36CE069039F6}"/>
              </a:ext>
            </a:extLst>
          </p:cNvPr>
          <p:cNvSpPr/>
          <p:nvPr/>
        </p:nvSpPr>
        <p:spPr>
          <a:xfrm>
            <a:off x="2386369" y="5977759"/>
            <a:ext cx="1051035" cy="835572"/>
          </a:xfrm>
          <a:prstGeom prst="ellipse">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67B4167B-19A9-1310-6E46-26D485D8E73E}"/>
              </a:ext>
            </a:extLst>
          </p:cNvPr>
          <p:cNvSpPr/>
          <p:nvPr/>
        </p:nvSpPr>
        <p:spPr>
          <a:xfrm>
            <a:off x="4303043" y="5681515"/>
            <a:ext cx="2887931" cy="1006802"/>
          </a:xfrm>
          <a:prstGeom prst="ellipse">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0840C1D0-46A3-86CC-4262-437B82E307A5}"/>
              </a:ext>
            </a:extLst>
          </p:cNvPr>
          <p:cNvSpPr/>
          <p:nvPr/>
        </p:nvSpPr>
        <p:spPr>
          <a:xfrm>
            <a:off x="8316098" y="1996966"/>
            <a:ext cx="2320372" cy="620110"/>
          </a:xfrm>
          <a:prstGeom prst="ellipse">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23900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1" presetClass="entr" presetSubtype="0"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dissolve">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8"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 calcmode="lin" valueType="num">
                                      <p:cBhvr additive="base">
                                        <p:cTn id="20" dur="500" fill="hold"/>
                                        <p:tgtEl>
                                          <p:spTgt spid="15"/>
                                        </p:tgtEl>
                                        <p:attrNameLst>
                                          <p:attrName>ppt_x</p:attrName>
                                        </p:attrNameLst>
                                      </p:cBhvr>
                                      <p:tavLst>
                                        <p:tav tm="0">
                                          <p:val>
                                            <p:strVal val="0-#ppt_w/2"/>
                                          </p:val>
                                        </p:tav>
                                        <p:tav tm="100000">
                                          <p:val>
                                            <p:strVal val="#ppt_x"/>
                                          </p:val>
                                        </p:tav>
                                      </p:tavLst>
                                    </p:anim>
                                    <p:anim calcmode="lin" valueType="num">
                                      <p:cBhvr additive="base">
                                        <p:cTn id="21" dur="500" fill="hold"/>
                                        <p:tgtEl>
                                          <p:spTgt spid="15"/>
                                        </p:tgtEl>
                                        <p:attrNameLst>
                                          <p:attrName>ppt_y</p:attrName>
                                        </p:attrNameLst>
                                      </p:cBhvr>
                                      <p:tavLst>
                                        <p:tav tm="0">
                                          <p:val>
                                            <p:strVal val="#ppt_y"/>
                                          </p:val>
                                        </p:tav>
                                        <p:tav tm="100000">
                                          <p:val>
                                            <p:strVal val="#ppt_y"/>
                                          </p:val>
                                        </p:tav>
                                      </p:tavLst>
                                    </p:anim>
                                  </p:childTnLst>
                                </p:cTn>
                              </p:par>
                              <p:par>
                                <p:cTn id="22" presetID="1" presetClass="entr" presetSubtype="0" fill="hold" nodeType="withEffect">
                                  <p:stCondLst>
                                    <p:cond delay="0"/>
                                  </p:stCondLst>
                                  <p:childTnLst>
                                    <p:set>
                                      <p:cBhvr>
                                        <p:cTn id="23" dur="1" fill="hold">
                                          <p:stCondLst>
                                            <p:cond delay="0"/>
                                          </p:stCondLst>
                                        </p:cTn>
                                        <p:tgtEl>
                                          <p:spTgt spid="21"/>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dissolve">
                                      <p:cBhvr>
                                        <p:cTn id="2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7" grpId="0" animBg="1"/>
      <p:bldP spid="1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6834" y="1153572"/>
            <a:ext cx="3200400" cy="4461163"/>
          </a:xfrm>
        </p:spPr>
        <p:txBody>
          <a:bodyPr>
            <a:normAutofit/>
          </a:bodyPr>
          <a:lstStyle/>
          <a:p>
            <a:r>
              <a:rPr lang="en-US" b="1" dirty="0">
                <a:solidFill>
                  <a:srgbClr val="FFFFFF"/>
                </a:solidFill>
              </a:rPr>
              <a:t>After </a:t>
            </a:r>
            <a:br>
              <a:rPr lang="en-US" b="1" dirty="0">
                <a:solidFill>
                  <a:srgbClr val="FFFFFF"/>
                </a:solidFill>
              </a:rPr>
            </a:br>
            <a:r>
              <a:rPr lang="en-US" b="1" dirty="0">
                <a:solidFill>
                  <a:srgbClr val="FFFFFF"/>
                </a:solidFill>
              </a:rPr>
              <a:t>your </a:t>
            </a:r>
            <a:br>
              <a:rPr lang="en-US" b="1" dirty="0">
                <a:solidFill>
                  <a:srgbClr val="FFFFFF"/>
                </a:solidFill>
              </a:rPr>
            </a:br>
            <a:r>
              <a:rPr lang="en-US" b="1" dirty="0">
                <a:solidFill>
                  <a:srgbClr val="FFFFFF"/>
                </a:solidFill>
              </a:rPr>
              <a:t>trip</a:t>
            </a:r>
          </a:p>
        </p:txBody>
      </p:sp>
      <p:sp>
        <p:nvSpPr>
          <p:cNvPr id="13" name="Arc 1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type="body" idx="1"/>
          </p:nvPr>
        </p:nvSpPr>
        <p:spPr>
          <a:xfrm>
            <a:off x="4447308" y="591344"/>
            <a:ext cx="6906491" cy="5585619"/>
          </a:xfrm>
        </p:spPr>
        <p:txBody>
          <a:bodyPr anchor="ctr">
            <a:normAutofit/>
          </a:bodyPr>
          <a:lstStyle/>
          <a:p>
            <a:r>
              <a:rPr lang="en-US" dirty="0"/>
              <a:t>You will receive an email with a receipt</a:t>
            </a:r>
          </a:p>
          <a:p>
            <a:r>
              <a:rPr lang="en-US" dirty="0"/>
              <a:t>The email contains a link that lets you leave a review and tip – optional!</a:t>
            </a:r>
          </a:p>
          <a:p>
            <a:r>
              <a:rPr lang="en-US" dirty="0"/>
              <a:t>If you tip, you will receive another email with an updated receipt</a:t>
            </a:r>
          </a:p>
          <a:p>
            <a:r>
              <a:rPr lang="en-US" dirty="0"/>
              <a:t>You may also tip with cash after the ride, if you wish</a:t>
            </a:r>
          </a:p>
        </p:txBody>
      </p:sp>
      <p:grpSp>
        <p:nvGrpSpPr>
          <p:cNvPr id="4" name="Group 3">
            <a:extLst>
              <a:ext uri="{FF2B5EF4-FFF2-40B4-BE49-F238E27FC236}">
                <a16:creationId xmlns:a16="http://schemas.microsoft.com/office/drawing/2014/main" id="{9ADD9E79-A6E8-52C7-CEA1-78E1ADA6576C}"/>
              </a:ext>
            </a:extLst>
          </p:cNvPr>
          <p:cNvGrpSpPr/>
          <p:nvPr/>
        </p:nvGrpSpPr>
        <p:grpSpPr>
          <a:xfrm>
            <a:off x="596611" y="5300126"/>
            <a:ext cx="2880408" cy="1082967"/>
            <a:chOff x="626301" y="4860099"/>
            <a:chExt cx="2880408" cy="1082967"/>
          </a:xfrm>
        </p:grpSpPr>
        <p:pic>
          <p:nvPicPr>
            <p:cNvPr id="5" name="Picture 2" descr="L.A. by the Slice: What Are We Thinking While Using Uber? - LAmag -  Culture, Food, Fashion, News &amp; Los Angeles">
              <a:extLst>
                <a:ext uri="{FF2B5EF4-FFF2-40B4-BE49-F238E27FC236}">
                  <a16:creationId xmlns:a16="http://schemas.microsoft.com/office/drawing/2014/main" id="{03C31417-B241-3D97-2F50-08B27BF8D788}"/>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9956" b="89934" l="4667" r="95583">
                          <a14:foregroundMark x1="17000" y1="35619" x2="11583" y2="36394"/>
                          <a14:foregroundMark x1="11583" y1="36394" x2="7997" y2="40952"/>
                          <a14:foregroundMark x1="6317" y1="51657" x2="5750" y2="55973"/>
                          <a14:foregroundMark x1="5750" y1="55973" x2="8667" y2="61726"/>
                          <a14:foregroundMark x1="8667" y1="61726" x2="13333" y2="58407"/>
                          <a14:foregroundMark x1="13333" y1="58407" x2="13417" y2="38717"/>
                          <a14:foregroundMark x1="4667" y1="53872" x2="4750" y2="66814"/>
                          <a14:foregroundMark x1="88583" y1="47677" x2="92917" y2="52544"/>
                          <a14:foregroundMark x1="92917" y1="52544" x2="94667" y2="59513"/>
                          <a14:foregroundMark x1="94667" y1="59513" x2="91083" y2="64712"/>
                          <a14:foregroundMark x1="91083" y1="64712" x2="88583" y2="48230"/>
                          <a14:foregroundMark x1="94083" y1="55752" x2="95583" y2="62721"/>
                          <a14:foregroundMark x1="95583" y1="62721" x2="94500" y2="58407"/>
                          <a14:backgroundMark x1="6167" y1="41150" x2="6583" y2="48009"/>
                          <a14:backgroundMark x1="6583" y1="48009" x2="5333" y2="50996"/>
                          <a14:backgroundMark x1="8250" y1="41593" x2="6833" y2="40929"/>
                          <a14:backgroundMark x1="7500" y1="41261" x2="7500" y2="41261"/>
                          <a14:backgroundMark x1="7500" y1="40929" x2="7500" y2="40929"/>
                          <a14:backgroundMark x1="7833" y1="41150" x2="6417" y2="41593"/>
                          <a14:backgroundMark x1="5917" y1="52102" x2="5750" y2="50000"/>
                        </a14:backgroundRemoval>
                      </a14:imgEffect>
                    </a14:imgLayer>
                  </a14:imgProps>
                </a:ext>
                <a:ext uri="{28A0092B-C50C-407E-A947-70E740481C1C}">
                  <a14:useLocalDpi xmlns:a14="http://schemas.microsoft.com/office/drawing/2010/main" val="0"/>
                </a:ext>
              </a:extLst>
            </a:blip>
            <a:srcRect l="3414" t="27367" r="2479" b="25662"/>
            <a:stretch/>
          </p:blipFill>
          <p:spPr bwMode="auto">
            <a:xfrm>
              <a:off x="626301" y="4860099"/>
              <a:ext cx="2880408" cy="108296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Uber - Request a ride on the App Store">
              <a:extLst>
                <a:ext uri="{FF2B5EF4-FFF2-40B4-BE49-F238E27FC236}">
                  <a16:creationId xmlns:a16="http://schemas.microsoft.com/office/drawing/2014/main" id="{F19CC69B-0757-AD45-4F49-4A8BD120E34D}"/>
                </a:ext>
              </a:extLst>
            </p:cNvPr>
            <p:cNvPicPr>
              <a:picLocks noChangeAspect="1" noChangeArrowheads="1"/>
            </p:cNvPicPr>
            <p:nvPr/>
          </p:nvPicPr>
          <p:blipFill rotWithShape="1">
            <a:blip r:embed="rId5">
              <a:extLst>
                <a:ext uri="{BEBA8EAE-BF5A-486C-A8C5-ECC9F3942E4B}">
                  <a14:imgProps xmlns:a14="http://schemas.microsoft.com/office/drawing/2010/main">
                    <a14:imgLayer r:embed="rId6">
                      <a14:imgEffect>
                        <a14:backgroundRemoval t="10000" b="90000" l="10000" r="90000">
                          <a14:foregroundMark x1="60645" y1="39877" x2="35806" y2="39877"/>
                          <a14:foregroundMark x1="35806" y1="39877" x2="40645" y2="63190"/>
                          <a14:foregroundMark x1="40645" y1="63190" x2="52581" y2="68098"/>
                          <a14:foregroundMark x1="52581" y1="68098" x2="63548" y2="56442"/>
                          <a14:foregroundMark x1="63548" y1="56442" x2="60645" y2="43558"/>
                          <a14:foregroundMark x1="41613" y1="43558" x2="41613" y2="49693"/>
                          <a14:foregroundMark x1="44194" y1="43558" x2="44194" y2="54601"/>
                          <a14:foregroundMark x1="50000" y1="51534" x2="50000" y2="57669"/>
                          <a14:foregroundMark x1="38710" y1="60123" x2="36452" y2="60736"/>
                          <a14:foregroundMark x1="34839" y1="47239" x2="35161" y2="53374"/>
                          <a14:foregroundMark x1="45806" y1="47239" x2="51613" y2="51534"/>
                          <a14:foregroundMark x1="55484" y1="53374" x2="57742" y2="53988"/>
                          <a14:foregroundMark x1="57742" y1="50920" x2="56452" y2="47239"/>
                          <a14:foregroundMark x1="54839" y1="48466" x2="51935" y2="52147"/>
                          <a14:foregroundMark x1="53871" y1="55828" x2="57419" y2="58896"/>
                        </a14:backgroundRemoval>
                      </a14:imgEffect>
                    </a14:imgLayer>
                  </a14:imgProps>
                </a:ext>
                <a:ext uri="{28A0092B-C50C-407E-A947-70E740481C1C}">
                  <a14:useLocalDpi xmlns:a14="http://schemas.microsoft.com/office/drawing/2010/main" val="0"/>
                </a:ext>
              </a:extLst>
            </a:blip>
            <a:srcRect l="31652" t="15969" r="31123" b="15050"/>
            <a:stretch/>
          </p:blipFill>
          <p:spPr bwMode="auto">
            <a:xfrm>
              <a:off x="1858104" y="5327284"/>
              <a:ext cx="416801" cy="406114"/>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628178477"/>
      </p:ext>
    </p:extLst>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fill="hold" nodeType="afterEffect" p14:presetBounceEnd="50000">
                                      <p:stCondLst>
                                        <p:cond delay="0"/>
                                      </p:stCondLst>
                                      <p:childTnLst>
                                        <p:animMotion origin="layout" path="M -0.14688 -0.00069 L 0.80755 -0.00069 " pathEditMode="relative" rAng="0" ptsTypes="AA" p14:bounceEnd="50000">
                                          <p:cBhvr>
                                            <p:cTn id="6" dur="5000" fill="hold"/>
                                            <p:tgtEl>
                                              <p:spTgt spid="4"/>
                                            </p:tgtEl>
                                            <p:attrNameLst>
                                              <p:attrName>ppt_x</p:attrName>
                                              <p:attrName>ppt_y</p:attrName>
                                            </p:attrNameLst>
                                          </p:cBhvr>
                                          <p:rCtr x="47721" y="0"/>
                                        </p:animMotion>
                                      </p:childTnLst>
                                      <p:subTnLst>
                                        <p:audio>
                                          <p:cMediaNode>
                                            <p:cTn display="0" masterRel="sameClick">
                                              <p:stCondLst>
                                                <p:cond evt="begin" delay="0">
                                                  <p:tn val="5"/>
                                                </p:cond>
                                              </p:stCondLst>
                                              <p:endCondLst>
                                                <p:cond evt="onStopAudio" delay="0">
                                                  <p:tgtEl>
                                                    <p:sldTgt/>
                                                  </p:tgtEl>
                                                </p:cond>
                                              </p:endCondLst>
                                            </p:cTn>
                                            <p:tgtEl>
                                              <p:sndTgt r:embed="rId2" name="pu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fill="hold" nodeType="afterEffect">
                                      <p:stCondLst>
                                        <p:cond delay="0"/>
                                      </p:stCondLst>
                                      <p:childTnLst>
                                        <p:animMotion origin="layout" path="M -0.14688 -0.00069 L 0.80755 -0.00069 " pathEditMode="relative" rAng="0" ptsTypes="AA">
                                          <p:cBhvr>
                                            <p:cTn id="6" dur="5000" fill="hold"/>
                                            <p:tgtEl>
                                              <p:spTgt spid="4"/>
                                            </p:tgtEl>
                                            <p:attrNameLst>
                                              <p:attrName>ppt_x</p:attrName>
                                              <p:attrName>ppt_y</p:attrName>
                                            </p:attrNameLst>
                                          </p:cBhvr>
                                          <p:rCtr x="47721" y="0"/>
                                        </p:animMotion>
                                      </p:childTnLst>
                                      <p:subTnLst>
                                        <p:audio>
                                          <p:cMediaNode>
                                            <p:cTn display="0" masterRel="sameClick">
                                              <p:stCondLst>
                                                <p:cond evt="begin" delay="0">
                                                  <p:tn val="5"/>
                                                </p:cond>
                                              </p:stCondLst>
                                              <p:endCondLst>
                                                <p:cond evt="onStopAudio" delay="0">
                                                  <p:tgtEl>
                                                    <p:sldTgt/>
                                                  </p:tgtEl>
                                                </p:cond>
                                              </p:endCondLst>
                                            </p:cTn>
                                            <p:tgtEl>
                                              <p:sndTgt r:embed="rId2" name="pu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QuickStarter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4">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159</TotalTime>
  <Words>975</Words>
  <Application>Microsoft Macintosh PowerPoint</Application>
  <PresentationFormat>Widescreen</PresentationFormat>
  <Paragraphs>60</Paragraphs>
  <Slides>9</Slides>
  <Notes>6</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9</vt:i4>
      </vt:variant>
    </vt:vector>
  </HeadingPairs>
  <TitlesOfParts>
    <vt:vector size="19" baseType="lpstr">
      <vt:lpstr>Arial</vt:lpstr>
      <vt:lpstr>Calibri</vt:lpstr>
      <vt:lpstr>Calibri Light</vt:lpstr>
      <vt:lpstr>Helvetica Neue</vt:lpstr>
      <vt:lpstr>Helvetica Neue Light</vt:lpstr>
      <vt:lpstr>Segoe UI</vt:lpstr>
      <vt:lpstr>Segoe UI Light</vt:lpstr>
      <vt:lpstr>Segoe UI Semilight</vt:lpstr>
      <vt:lpstr>Office Theme</vt:lpstr>
      <vt:lpstr>QuickStarter Theme</vt:lpstr>
      <vt:lpstr>Demystifying Uber</vt:lpstr>
      <vt:lpstr>Uber</vt:lpstr>
      <vt:lpstr>Uber safety: Video</vt:lpstr>
      <vt:lpstr>Installing Uber</vt:lpstr>
      <vt:lpstr>Booking a ride</vt:lpstr>
      <vt:lpstr>Booking a ride</vt:lpstr>
      <vt:lpstr>Booking a ride</vt:lpstr>
      <vt:lpstr>Trusted Contacts</vt:lpstr>
      <vt:lpstr>After  your  trip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Here's your outline to get started</dc:title>
  <dc:creator>Theresa Milewski</dc:creator>
  <cp:lastModifiedBy>Theresa Milewski</cp:lastModifiedBy>
  <cp:revision>18</cp:revision>
  <cp:lastPrinted>2024-01-10T22:03:27Z</cp:lastPrinted>
  <dcterms:created xsi:type="dcterms:W3CDTF">2024-01-10T19:23:42Z</dcterms:created>
  <dcterms:modified xsi:type="dcterms:W3CDTF">2024-01-10T22:03:33Z</dcterms:modified>
</cp:coreProperties>
</file>